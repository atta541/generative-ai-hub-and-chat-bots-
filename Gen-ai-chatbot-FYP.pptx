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2.svg" ContentType="image/svg+xml"/>
  <Override PartName="/ppt/media/image15.svg" ContentType="image/svg+xml"/>
  <Override PartName="/ppt/media/image3.svg" ContentType="image/svg+xml"/>
  <Override PartName="/ppt/media/image5.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8288000" cy="10287000"/>
  <p:notesSz cx="6858000" cy="9144000"/>
  <p:embeddedFontLst>
    <p:embeddedFont>
      <p:font typeface="TT Lakes Neue Bold" panose="02010001040000080307"/>
      <p:bold r:id="rId23"/>
    </p:embeddedFont>
    <p:embeddedFont>
      <p:font typeface="TT Lakes Neue" panose="02010001040000080307"/>
      <p:regular r:id="rId24"/>
    </p:embeddedFont>
    <p:embeddedFont>
      <p:font typeface="Raleway"/>
      <p:regular r:id="rId25"/>
    </p:embeddedFont>
    <p:embeddedFont>
      <p:font typeface="Canva Sans Bold" panose="020B0803030501040103"/>
      <p:bold r:id="rId26"/>
    </p:embeddedFont>
    <p:embeddedFont>
      <p:font typeface="Canva Sans" panose="020B0503030501040103"/>
      <p:regular r:id="rId27"/>
    </p:embeddedFont>
    <p:embeddedFont>
      <p:font typeface="Raleway Semi-Bold"/>
      <p:bold r:id="rId28"/>
    </p:embeddedFont>
    <p:embeddedFont>
      <p:font typeface="Raleway Bold"/>
      <p:bold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2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93"/>
        <p:guide pos="288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11.fntdata"/><Relationship Id="rId32" Type="http://schemas.openxmlformats.org/officeDocument/2006/relationships/font" Target="fonts/font10.fntdata"/><Relationship Id="rId31" Type="http://schemas.openxmlformats.org/officeDocument/2006/relationships/font" Target="fonts/font9.fntdata"/><Relationship Id="rId30" Type="http://schemas.openxmlformats.org/officeDocument/2006/relationships/font" Target="fonts/font8.fntdata"/><Relationship Id="rId3" Type="http://schemas.openxmlformats.org/officeDocument/2006/relationships/slide" Target="slides/slide1.xml"/><Relationship Id="rId29" Type="http://schemas.openxmlformats.org/officeDocument/2006/relationships/font" Target="fonts/font7.fntdata"/><Relationship Id="rId28" Type="http://schemas.openxmlformats.org/officeDocument/2006/relationships/font" Target="fonts/font6.fntdata"/><Relationship Id="rId27" Type="http://schemas.openxmlformats.org/officeDocument/2006/relationships/font" Target="fonts/font5.fntdata"/><Relationship Id="rId26" Type="http://schemas.openxmlformats.org/officeDocument/2006/relationships/font" Target="fonts/font4.fntdata"/><Relationship Id="rId25" Type="http://schemas.openxmlformats.org/officeDocument/2006/relationships/font" Target="fonts/font3.fntdata"/><Relationship Id="rId24" Type="http://schemas.openxmlformats.org/officeDocument/2006/relationships/font" Target="fonts/font2.fntdata"/><Relationship Id="rId23" Type="http://schemas.openxmlformats.org/officeDocument/2006/relationships/font" Target="fonts/font1.fntdata"/><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generative-ai-hub-and-chat-bots.vercel.app/login" TargetMode="Externa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3.svg"/><Relationship Id="rId6" Type="http://schemas.openxmlformats.org/officeDocument/2006/relationships/image" Target="../media/image2.png"/><Relationship Id="rId5" Type="http://schemas.openxmlformats.org/officeDocument/2006/relationships/image" Target="../media/image10.jpe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5.sv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5.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9" Type="http://schemas.openxmlformats.org/officeDocument/2006/relationships/image" Target="../media/image12.svg"/><Relationship Id="rId8" Type="http://schemas.openxmlformats.org/officeDocument/2006/relationships/image" Target="../media/image11.png"/><Relationship Id="rId7" Type="http://schemas.openxmlformats.org/officeDocument/2006/relationships/hyperlink" Target="https://huggingface.co/atta123" TargetMode="Externa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5.svg"/><Relationship Id="rId11" Type="http://schemas.openxmlformats.org/officeDocument/2006/relationships/slideLayout" Target="../slideLayouts/slideLayout7.xml"/><Relationship Id="rId10" Type="http://schemas.openxmlformats.org/officeDocument/2006/relationships/image" Target="../media/image16.jpe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2.jpeg"/><Relationship Id="rId7" Type="http://schemas.openxmlformats.org/officeDocument/2006/relationships/image" Target="../media/image21.jpe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svg"/><Relationship Id="rId3" Type="http://schemas.openxmlformats.org/officeDocument/2006/relationships/image" Target="../media/image2.png"/><Relationship Id="rId2" Type="http://schemas.openxmlformats.org/officeDocument/2006/relationships/image" Target="../media/image5.sv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3.jpeg"/><Relationship Id="rId2" Type="http://schemas.openxmlformats.org/officeDocument/2006/relationships/image" Target="../media/image3.sv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0"/>
            <a:ext cx="18288000" cy="10411808"/>
          </a:xfrm>
          <a:custGeom>
            <a:avLst/>
            <a:gdLst/>
            <a:ahLst/>
            <a:cxnLst/>
            <a:rect l="l" t="t" r="r" b="b"/>
            <a:pathLst>
              <a:path w="18288000" h="10411808">
                <a:moveTo>
                  <a:pt x="0" y="0"/>
                </a:moveTo>
                <a:lnTo>
                  <a:pt x="18288000" y="0"/>
                </a:lnTo>
                <a:lnTo>
                  <a:pt x="18288000" y="10411808"/>
                </a:lnTo>
                <a:lnTo>
                  <a:pt x="0" y="10411808"/>
                </a:lnTo>
                <a:lnTo>
                  <a:pt x="0" y="0"/>
                </a:lnTo>
                <a:close/>
              </a:path>
            </a:pathLst>
          </a:custGeom>
          <a:blipFill>
            <a:blip r:embed="rId1"/>
            <a:stretch>
              <a:fillRect l="-1248" t="-1268" r="-1248"/>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028700" y="2471022"/>
            <a:ext cx="5126886" cy="5033670"/>
          </a:xfrm>
          <a:custGeom>
            <a:avLst/>
            <a:gdLst/>
            <a:ahLst/>
            <a:cxnLst/>
            <a:rect l="l" t="t" r="r" b="b"/>
            <a:pathLst>
              <a:path w="5126886" h="5033670">
                <a:moveTo>
                  <a:pt x="0" y="0"/>
                </a:moveTo>
                <a:lnTo>
                  <a:pt x="5126886" y="0"/>
                </a:lnTo>
                <a:lnTo>
                  <a:pt x="5126886" y="5033670"/>
                </a:lnTo>
                <a:lnTo>
                  <a:pt x="0" y="5033670"/>
                </a:lnTo>
                <a:lnTo>
                  <a:pt x="0" y="0"/>
                </a:lnTo>
                <a:close/>
              </a:path>
            </a:pathLst>
          </a:custGeom>
          <a:blipFill>
            <a:blip r:embed="rId1">
              <a:alphaModFix amt="31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494845" y="8689444"/>
            <a:ext cx="7192433" cy="1137712"/>
          </a:xfrm>
          <a:custGeom>
            <a:avLst/>
            <a:gdLst/>
            <a:ahLst/>
            <a:cxnLst/>
            <a:rect l="l" t="t" r="r" b="b"/>
            <a:pathLst>
              <a:path w="7192433" h="1137712">
                <a:moveTo>
                  <a:pt x="0" y="0"/>
                </a:moveTo>
                <a:lnTo>
                  <a:pt x="7192432" y="0"/>
                </a:lnTo>
                <a:lnTo>
                  <a:pt x="7192432" y="1137712"/>
                </a:lnTo>
                <a:lnTo>
                  <a:pt x="0" y="113771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5" name="TextBox 5"/>
          <p:cNvSpPr txBox="1"/>
          <p:nvPr/>
        </p:nvSpPr>
        <p:spPr>
          <a:xfrm>
            <a:off x="2188961" y="3999815"/>
            <a:ext cx="12687263" cy="1705250"/>
          </a:xfrm>
          <a:prstGeom prst="rect">
            <a:avLst/>
          </a:prstGeom>
        </p:spPr>
        <p:txBody>
          <a:bodyPr lIns="0" tIns="0" rIns="0" bIns="0" rtlCol="0" anchor="t">
            <a:spAutoFit/>
          </a:bodyPr>
          <a:lstStyle/>
          <a:p>
            <a:pPr algn="l">
              <a:lnSpc>
                <a:spcPts val="13075"/>
              </a:lnSpc>
              <a:spcBef>
                <a:spcPct val="0"/>
              </a:spcBef>
            </a:pPr>
            <a:r>
              <a:rPr lang="en-US" sz="1233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CHATBOT-HUB</a:t>
            </a:r>
            <a:endParaRPr lang="en-US" sz="1233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6" name="TextBox 6"/>
          <p:cNvSpPr txBox="1"/>
          <p:nvPr/>
        </p:nvSpPr>
        <p:spPr>
          <a:xfrm>
            <a:off x="2382763" y="8995008"/>
            <a:ext cx="6149829" cy="520448"/>
          </a:xfrm>
          <a:prstGeom prst="rect">
            <a:avLst/>
          </a:prstGeom>
        </p:spPr>
        <p:txBody>
          <a:bodyPr lIns="0" tIns="0" rIns="0" bIns="0" rtlCol="0" anchor="t">
            <a:spAutoFit/>
          </a:bodyPr>
          <a:lstStyle/>
          <a:p>
            <a:pPr algn="l">
              <a:lnSpc>
                <a:spcPts val="2065"/>
              </a:lnSpc>
              <a:spcBef>
                <a:spcPct val="0"/>
              </a:spcBef>
            </a:pPr>
            <a:r>
              <a:rPr lang="en-US" sz="1950" u="sng">
                <a:solidFill>
                  <a:srgbClr val="FFFFFF"/>
                </a:solidFill>
                <a:latin typeface="TT Lakes Neue" panose="02010001040000080307"/>
                <a:ea typeface="TT Lakes Neue" panose="02010001040000080307"/>
                <a:cs typeface="TT Lakes Neue" panose="02010001040000080307"/>
                <a:sym typeface="TT Lakes Neue" panose="02010001040000080307"/>
                <a:hlinkClick r:id="rId7" tooltip="https://generative-ai-hub-and-chat-bots.vercel.app/login"/>
              </a:rPr>
              <a:t>https://generative-ai-hub-and-chat-bots.vercel.app/login</a:t>
            </a:r>
            <a:endParaRPr lang="en-US" sz="1950" u="sng">
              <a:solidFill>
                <a:srgbClr val="FFFFFF"/>
              </a:solidFill>
              <a:latin typeface="TT Lakes Neue" panose="02010001040000080307"/>
              <a:ea typeface="TT Lakes Neue" panose="02010001040000080307"/>
              <a:cs typeface="TT Lakes Neue" panose="02010001040000080307"/>
              <a:sym typeface="TT Lakes Neue" panose="02010001040000080307"/>
              <a:hlinkClick r:id="rId7" tooltip="https://generative-ai-hub-and-chat-bots.vercel.app/login"/>
            </a:endParaRPr>
          </a:p>
        </p:txBody>
      </p:sp>
      <p:sp>
        <p:nvSpPr>
          <p:cNvPr id="7" name="TextBox 7"/>
          <p:cNvSpPr txBox="1"/>
          <p:nvPr/>
        </p:nvSpPr>
        <p:spPr>
          <a:xfrm>
            <a:off x="2333028" y="5532649"/>
            <a:ext cx="6199564" cy="480442"/>
          </a:xfrm>
          <a:prstGeom prst="rect">
            <a:avLst/>
          </a:prstGeom>
        </p:spPr>
        <p:txBody>
          <a:bodyPr lIns="0" tIns="0" rIns="0" bIns="0" rtlCol="0" anchor="t">
            <a:spAutoFit/>
          </a:bodyPr>
          <a:lstStyle/>
          <a:p>
            <a:pPr algn="l">
              <a:lnSpc>
                <a:spcPts val="3655"/>
              </a:lnSpc>
              <a:spcBef>
                <a:spcPct val="0"/>
              </a:spcBef>
            </a:pPr>
            <a:r>
              <a:rPr lang="en-US" sz="3450">
                <a:solidFill>
                  <a:srgbClr val="FFFFFF"/>
                </a:solidFill>
                <a:latin typeface="Raleway"/>
                <a:ea typeface="Raleway"/>
                <a:cs typeface="Raleway"/>
                <a:sym typeface="Raleway"/>
              </a:rPr>
              <a:t>Pay less get more</a:t>
            </a:r>
            <a:endParaRPr lang="en-US" sz="3450">
              <a:solidFill>
                <a:srgbClr val="FFFFFF"/>
              </a:solidFill>
              <a:latin typeface="Raleway"/>
              <a:ea typeface="Raleway"/>
              <a:cs typeface="Raleway"/>
              <a:sym typeface="Raleway"/>
            </a:endParaRPr>
          </a:p>
        </p:txBody>
      </p:sp>
      <p:sp>
        <p:nvSpPr>
          <p:cNvPr id="8" name="TextBox 8"/>
          <p:cNvSpPr txBox="1"/>
          <p:nvPr/>
        </p:nvSpPr>
        <p:spPr>
          <a:xfrm>
            <a:off x="16175678" y="1560323"/>
            <a:ext cx="1418817" cy="263292"/>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01</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0" y="3068989"/>
            <a:ext cx="18288000" cy="6777407"/>
            <a:chOff x="0" y="0"/>
            <a:chExt cx="4816593" cy="1784996"/>
          </a:xfrm>
        </p:grpSpPr>
        <p:sp>
          <p:nvSpPr>
            <p:cNvPr id="4" name="Freeform 4"/>
            <p:cNvSpPr/>
            <p:nvPr/>
          </p:nvSpPr>
          <p:spPr>
            <a:xfrm>
              <a:off x="0" y="0"/>
              <a:ext cx="4816592" cy="1784996"/>
            </a:xfrm>
            <a:custGeom>
              <a:avLst/>
              <a:gdLst/>
              <a:ahLst/>
              <a:cxnLst/>
              <a:rect l="l" t="t" r="r" b="b"/>
              <a:pathLst>
                <a:path w="4816592" h="1784996">
                  <a:moveTo>
                    <a:pt x="0" y="0"/>
                  </a:moveTo>
                  <a:lnTo>
                    <a:pt x="4816592" y="0"/>
                  </a:lnTo>
                  <a:lnTo>
                    <a:pt x="4816592" y="1784996"/>
                  </a:lnTo>
                  <a:lnTo>
                    <a:pt x="0" y="1784996"/>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4816593" cy="1756421"/>
            </a:xfrm>
            <a:prstGeom prst="rect">
              <a:avLst/>
            </a:prstGeom>
          </p:spPr>
          <p:txBody>
            <a:bodyPr lIns="50800" tIns="50800" rIns="50800" bIns="50800" rtlCol="0" anchor="ctr"/>
            <a:lstStyle/>
            <a:p>
              <a:pPr algn="ctr">
                <a:lnSpc>
                  <a:spcPts val="2180"/>
                </a:lnSpc>
              </a:pPr>
            </a:p>
          </p:txBody>
        </p:sp>
      </p:grpSp>
      <p:sp>
        <p:nvSpPr>
          <p:cNvPr id="6" name="TextBox 6"/>
          <p:cNvSpPr txBox="1"/>
          <p:nvPr/>
        </p:nvSpPr>
        <p:spPr>
          <a:xfrm>
            <a:off x="16175678" y="1560323"/>
            <a:ext cx="1418817" cy="263292"/>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02</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7" name="TextBox 7"/>
          <p:cNvSpPr txBox="1"/>
          <p:nvPr/>
        </p:nvSpPr>
        <p:spPr>
          <a:xfrm>
            <a:off x="3106234" y="1161719"/>
            <a:ext cx="3314224" cy="887095"/>
          </a:xfrm>
          <a:prstGeom prst="rect">
            <a:avLst/>
          </a:prstGeom>
        </p:spPr>
        <p:txBody>
          <a:bodyPr lIns="0" tIns="0" rIns="0" bIns="0" rtlCol="0" anchor="t">
            <a:spAutoFit/>
          </a:bodyPr>
          <a:lstStyle/>
          <a:p>
            <a:pPr algn="ctr">
              <a:lnSpc>
                <a:spcPts val="7280"/>
              </a:lnSpc>
            </a:pPr>
            <a:r>
              <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rPr>
              <a:t>Contents: </a:t>
            </a:r>
            <a:endPar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8" name="TextBox 8"/>
          <p:cNvSpPr txBox="1"/>
          <p:nvPr/>
        </p:nvSpPr>
        <p:spPr>
          <a:xfrm>
            <a:off x="2523490" y="3159760"/>
            <a:ext cx="2794000" cy="610235"/>
          </a:xfrm>
          <a:prstGeom prst="rect">
            <a:avLst/>
          </a:prstGeom>
        </p:spPr>
        <p:txBody>
          <a:bodyPr wrap="square" lIns="0" tIns="0" rIns="0" bIns="0" rtlCol="0" anchor="t">
            <a:spAutoFit/>
          </a:bodyPr>
          <a:lstStyle/>
          <a:p>
            <a:pPr algn="ctr">
              <a:lnSpc>
                <a:spcPts val="4760"/>
              </a:lnSpc>
            </a:pPr>
            <a:r>
              <a:rPr lang="en-US" sz="3400" b="1">
                <a:solidFill>
                  <a:srgbClr val="FFFFFF"/>
                </a:solidFill>
                <a:latin typeface="Canva Sans Bold" panose="020B0803030501040103"/>
                <a:ea typeface="Canva Sans Bold" panose="020B0803030501040103"/>
                <a:cs typeface="Canva Sans Bold" panose="020B0803030501040103"/>
                <a:sym typeface="Canva Sans Bold" panose="020B0803030501040103"/>
              </a:rPr>
              <a:t>Introduction</a:t>
            </a:r>
            <a:endParaRPr lang="en-US" sz="34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9" name="TextBox 9"/>
          <p:cNvSpPr txBox="1"/>
          <p:nvPr/>
        </p:nvSpPr>
        <p:spPr>
          <a:xfrm>
            <a:off x="2408555" y="4078605"/>
            <a:ext cx="4546600"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Problem Identification</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0" name="TextBox 10"/>
          <p:cNvSpPr txBox="1"/>
          <p:nvPr/>
        </p:nvSpPr>
        <p:spPr>
          <a:xfrm>
            <a:off x="2408555" y="4801235"/>
            <a:ext cx="4078605"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Problem  Statement</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1" name="TextBox 11"/>
          <p:cNvSpPr txBox="1"/>
          <p:nvPr/>
        </p:nvSpPr>
        <p:spPr>
          <a:xfrm>
            <a:off x="2408555" y="6246495"/>
            <a:ext cx="2649220"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Dataset info</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2" name="TextBox 12"/>
          <p:cNvSpPr txBox="1"/>
          <p:nvPr/>
        </p:nvSpPr>
        <p:spPr>
          <a:xfrm>
            <a:off x="2408555" y="6944995"/>
            <a:ext cx="4124325"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Fine tunning Results</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3" name="TextBox 13"/>
          <p:cNvSpPr txBox="1"/>
          <p:nvPr/>
        </p:nvSpPr>
        <p:spPr>
          <a:xfrm>
            <a:off x="2408555" y="5523865"/>
            <a:ext cx="5594985"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A Rising Competitor in LLMs</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4" name="TextBox 14"/>
          <p:cNvSpPr txBox="1"/>
          <p:nvPr/>
        </p:nvSpPr>
        <p:spPr>
          <a:xfrm>
            <a:off x="2408555" y="7667625"/>
            <a:ext cx="3558540"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Future Prospects</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5" name="TextBox 15"/>
          <p:cNvSpPr txBox="1"/>
          <p:nvPr/>
        </p:nvSpPr>
        <p:spPr>
          <a:xfrm>
            <a:off x="2408555" y="8390255"/>
            <a:ext cx="3145155" cy="538480"/>
          </a:xfrm>
          <a:prstGeom prst="rect">
            <a:avLst/>
          </a:prstGeom>
        </p:spPr>
        <p:txBody>
          <a:bodyPr wrap="square" lIns="0" tIns="0" rIns="0" bIns="0" rtlCol="0" anchor="t">
            <a:spAutoFit/>
          </a:bodyPr>
          <a:lstStyle/>
          <a:p>
            <a:pPr marL="323850" lvl="1" indent="0" algn="just">
              <a:lnSpc>
                <a:spcPts val="4200"/>
              </a:lnSpc>
              <a:buFont typeface="Arial" panose="020B0604020202020204" pitchFamily="34" charset="0"/>
              <a:buNone/>
            </a:pPr>
            <a:r>
              <a:rPr lang="en-US" sz="3000">
                <a:solidFill>
                  <a:srgbClr val="FFFFFF"/>
                </a:solidFill>
                <a:latin typeface="Canva Sans" panose="020B0503030501040103"/>
                <a:ea typeface="Canva Sans" panose="020B0503030501040103"/>
                <a:cs typeface="Canva Sans" panose="020B0503030501040103"/>
                <a:sym typeface="Canva Sans" panose="020B0503030501040103"/>
              </a:rPr>
              <a:t>Future of LLMs</a:t>
            </a:r>
            <a:endParaRPr lang="en-US" sz="30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6" name="Text Box 15"/>
          <p:cNvSpPr txBox="1"/>
          <p:nvPr/>
        </p:nvSpPr>
        <p:spPr>
          <a:xfrm>
            <a:off x="19499580" y="4890135"/>
            <a:ext cx="6096000" cy="368300"/>
          </a:xfrm>
          <a:prstGeom prst="rect">
            <a:avLst/>
          </a:prstGeom>
          <a:noFill/>
        </p:spPr>
        <p:txBody>
          <a:bodyPr wrap="square" rtlCol="0">
            <a:spAutoFit/>
          </a:bodyPr>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0" y="3173016"/>
            <a:ext cx="18288000" cy="6526479"/>
            <a:chOff x="0" y="0"/>
            <a:chExt cx="4816593" cy="1718908"/>
          </a:xfrm>
        </p:grpSpPr>
        <p:sp>
          <p:nvSpPr>
            <p:cNvPr id="4" name="Freeform 4"/>
            <p:cNvSpPr/>
            <p:nvPr/>
          </p:nvSpPr>
          <p:spPr>
            <a:xfrm>
              <a:off x="0" y="0"/>
              <a:ext cx="4816592" cy="1718908"/>
            </a:xfrm>
            <a:custGeom>
              <a:avLst/>
              <a:gdLst/>
              <a:ahLst/>
              <a:cxnLst/>
              <a:rect l="l" t="t" r="r" b="b"/>
              <a:pathLst>
                <a:path w="4816592" h="1718908">
                  <a:moveTo>
                    <a:pt x="0" y="0"/>
                  </a:moveTo>
                  <a:lnTo>
                    <a:pt x="4816592" y="0"/>
                  </a:lnTo>
                  <a:lnTo>
                    <a:pt x="4816592" y="1718908"/>
                  </a:lnTo>
                  <a:lnTo>
                    <a:pt x="0" y="1718908"/>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4816593" cy="1690333"/>
            </a:xfrm>
            <a:prstGeom prst="rect">
              <a:avLst/>
            </a:prstGeom>
          </p:spPr>
          <p:txBody>
            <a:bodyPr lIns="50800" tIns="50800" rIns="50800" bIns="50800" rtlCol="0" anchor="ctr"/>
            <a:lstStyle/>
            <a:p>
              <a:pPr algn="ctr">
                <a:lnSpc>
                  <a:spcPts val="2180"/>
                </a:lnSpc>
              </a:pPr>
            </a:p>
          </p:txBody>
        </p:sp>
      </p:grpSp>
      <p:sp>
        <p:nvSpPr>
          <p:cNvPr id="6" name="TextBox 6"/>
          <p:cNvSpPr txBox="1"/>
          <p:nvPr/>
        </p:nvSpPr>
        <p:spPr>
          <a:xfrm>
            <a:off x="590792" y="3984567"/>
            <a:ext cx="17106417" cy="4940487"/>
          </a:xfrm>
          <a:prstGeom prst="rect">
            <a:avLst/>
          </a:prstGeom>
        </p:spPr>
        <p:txBody>
          <a:bodyPr lIns="0" tIns="0" rIns="0" bIns="0" rtlCol="0" anchor="t">
            <a:spAutoFit/>
          </a:bodyPr>
          <a:lstStyle/>
          <a:p>
            <a:pPr algn="just">
              <a:lnSpc>
                <a:spcPts val="3230"/>
              </a:lnSpc>
              <a:spcBef>
                <a:spcPct val="0"/>
              </a:spcBef>
            </a:pPr>
            <a:r>
              <a:rPr lang="en-US" sz="3045" b="1">
                <a:solidFill>
                  <a:srgbClr val="FFFFFF"/>
                </a:solidFill>
                <a:latin typeface="Raleway Semi-Bold"/>
                <a:ea typeface="Raleway Semi-Bold"/>
                <a:cs typeface="Raleway Semi-Bold"/>
                <a:sym typeface="Raleway Semi-Bold"/>
              </a:rPr>
              <a:t>The current AI landscape is highly fragmented, with various models like ChatGPT-4, Gemini, LLaMA-2, and others requiring separate subscriptions. This scattered approach increases costs and complicates accessibility, making it difficult for users to leverage AI efficiently. The financial burden restricts innovation and prevents seamless AI integration within the computer science community. Additionally, there is a lack of specialized AI bots tailored to specific domains such as university-related information, cricket, politics, and current events. Users often struggle to find AI solutions that cater to their unique interests in a single platform. Furthermore, the absence of efficient tools for personal data analysis limits users' ability to extract meaningful insights. A system that allows users to upload files and interact with a chatbot for data-driven decision-making is essential. Addressing these challenges, a unified AI platform with domain-specific bots and personalized data analysis capabilities can enhance accessibility, affordability, and user experience.</a:t>
            </a:r>
            <a:endParaRPr lang="en-US" sz="3045" b="1">
              <a:solidFill>
                <a:srgbClr val="FFFFFF"/>
              </a:solidFill>
              <a:latin typeface="Raleway Semi-Bold"/>
              <a:ea typeface="Raleway Semi-Bold"/>
              <a:cs typeface="Raleway Semi-Bold"/>
              <a:sym typeface="Raleway Semi-Bold"/>
            </a:endParaRPr>
          </a:p>
        </p:txBody>
      </p:sp>
      <p:sp>
        <p:nvSpPr>
          <p:cNvPr id="7" name="TextBox 7"/>
          <p:cNvSpPr txBox="1"/>
          <p:nvPr/>
        </p:nvSpPr>
        <p:spPr>
          <a:xfrm>
            <a:off x="2652835" y="598039"/>
            <a:ext cx="12982330" cy="2574978"/>
          </a:xfrm>
          <a:prstGeom prst="rect">
            <a:avLst/>
          </a:prstGeom>
        </p:spPr>
        <p:txBody>
          <a:bodyPr lIns="0" tIns="0" rIns="0" bIns="0" rtlCol="0" anchor="t">
            <a:spAutoFit/>
          </a:bodyPr>
          <a:lstStyle/>
          <a:p>
            <a:pPr algn="l">
              <a:lnSpc>
                <a:spcPts val="9990"/>
              </a:lnSpc>
              <a:spcBef>
                <a:spcPct val="0"/>
              </a:spcBef>
            </a:pPr>
            <a:r>
              <a:rPr lang="en-US" sz="942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PROBLEM IDENTIFICATION</a:t>
            </a:r>
            <a:endParaRPr lang="en-US" sz="942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8" name="TextBox 8"/>
          <p:cNvSpPr txBox="1"/>
          <p:nvPr/>
        </p:nvSpPr>
        <p:spPr>
          <a:xfrm>
            <a:off x="16175678" y="1560323"/>
            <a:ext cx="1418817" cy="263273"/>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03</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rot="0">
            <a:off x="0" y="3173016"/>
            <a:ext cx="18288000" cy="6526479"/>
            <a:chOff x="0" y="0"/>
            <a:chExt cx="4816593" cy="1718908"/>
          </a:xfrm>
        </p:grpSpPr>
        <p:sp>
          <p:nvSpPr>
            <p:cNvPr id="4" name="Freeform 4"/>
            <p:cNvSpPr/>
            <p:nvPr/>
          </p:nvSpPr>
          <p:spPr>
            <a:xfrm>
              <a:off x="0" y="0"/>
              <a:ext cx="4816592" cy="1718908"/>
            </a:xfrm>
            <a:custGeom>
              <a:avLst/>
              <a:gdLst/>
              <a:ahLst/>
              <a:cxnLst/>
              <a:rect l="l" t="t" r="r" b="b"/>
              <a:pathLst>
                <a:path w="4816592" h="1718908">
                  <a:moveTo>
                    <a:pt x="0" y="0"/>
                  </a:moveTo>
                  <a:lnTo>
                    <a:pt x="4816592" y="0"/>
                  </a:lnTo>
                  <a:lnTo>
                    <a:pt x="4816592" y="1718908"/>
                  </a:lnTo>
                  <a:lnTo>
                    <a:pt x="0" y="1718908"/>
                  </a:lnTo>
                  <a:close/>
                </a:path>
              </a:pathLst>
            </a:custGeom>
            <a:gradFill rotWithShape="1">
              <a:gsLst>
                <a:gs pos="0">
                  <a:srgbClr val="131F40">
                    <a:alpha val="75000"/>
                  </a:srgbClr>
                </a:gs>
                <a:gs pos="100000">
                  <a:srgbClr val="3D6D81">
                    <a:alpha val="75000"/>
                  </a:srgbClr>
                </a:gs>
              </a:gsLst>
              <a:lin ang="0"/>
            </a:gradFill>
          </p:spPr>
        </p:sp>
        <p:sp>
          <p:nvSpPr>
            <p:cNvPr id="5" name="TextBox 5"/>
            <p:cNvSpPr txBox="1"/>
            <p:nvPr/>
          </p:nvSpPr>
          <p:spPr>
            <a:xfrm>
              <a:off x="0" y="28575"/>
              <a:ext cx="4816593" cy="1690333"/>
            </a:xfrm>
            <a:prstGeom prst="rect">
              <a:avLst/>
            </a:prstGeom>
          </p:spPr>
          <p:txBody>
            <a:bodyPr lIns="50800" tIns="50800" rIns="50800" bIns="50800" rtlCol="0" anchor="ctr"/>
            <a:lstStyle/>
            <a:p>
              <a:pPr algn="ctr">
                <a:lnSpc>
                  <a:spcPts val="2180"/>
                </a:lnSpc>
              </a:pPr>
            </a:p>
          </p:txBody>
        </p:sp>
      </p:grpSp>
      <p:sp>
        <p:nvSpPr>
          <p:cNvPr id="6" name="TextBox 6"/>
          <p:cNvSpPr txBox="1"/>
          <p:nvPr/>
        </p:nvSpPr>
        <p:spPr>
          <a:xfrm>
            <a:off x="590792" y="3984567"/>
            <a:ext cx="17106417" cy="2073462"/>
          </a:xfrm>
          <a:prstGeom prst="rect">
            <a:avLst/>
          </a:prstGeom>
        </p:spPr>
        <p:txBody>
          <a:bodyPr lIns="0" tIns="0" rIns="0" bIns="0" rtlCol="0" anchor="t">
            <a:spAutoFit/>
          </a:bodyPr>
          <a:lstStyle/>
          <a:p>
            <a:pPr algn="l">
              <a:lnSpc>
                <a:spcPts val="3230"/>
              </a:lnSpc>
              <a:spcBef>
                <a:spcPct val="0"/>
              </a:spcBef>
            </a:pPr>
            <a:r>
              <a:rPr lang="en-US" sz="3045" b="1">
                <a:solidFill>
                  <a:srgbClr val="FFFFFF"/>
                </a:solidFill>
                <a:latin typeface="Raleway Semi-Bold"/>
                <a:ea typeface="Raleway Semi-Bold"/>
                <a:cs typeface="Raleway Semi-Bold"/>
                <a:sym typeface="Raleway Semi-Bold"/>
              </a:rPr>
              <a:t>There is no unified AI platform that integrates multiple AI models, offers domain-specific chatbots, and enables personal data analysis. This fragmentation leads to increased costs, accessibility challenges, and inefficiencies for users seeking AI-driven insights. A centralized AI platform is needed to streamline access, reduce expenses, and provide tailored solutions for various domains and data-driven decision-making</a:t>
            </a:r>
            <a:endParaRPr lang="en-US" sz="3045" b="1">
              <a:solidFill>
                <a:srgbClr val="FFFFFF"/>
              </a:solidFill>
              <a:latin typeface="Raleway Semi-Bold"/>
              <a:ea typeface="Raleway Semi-Bold"/>
              <a:cs typeface="Raleway Semi-Bold"/>
              <a:sym typeface="Raleway Semi-Bold"/>
            </a:endParaRPr>
          </a:p>
        </p:txBody>
      </p:sp>
      <p:sp>
        <p:nvSpPr>
          <p:cNvPr id="7" name="TextBox 7"/>
          <p:cNvSpPr txBox="1"/>
          <p:nvPr/>
        </p:nvSpPr>
        <p:spPr>
          <a:xfrm>
            <a:off x="2652835" y="598039"/>
            <a:ext cx="12982330" cy="2574978"/>
          </a:xfrm>
          <a:prstGeom prst="rect">
            <a:avLst/>
          </a:prstGeom>
        </p:spPr>
        <p:txBody>
          <a:bodyPr lIns="0" tIns="0" rIns="0" bIns="0" rtlCol="0" anchor="t">
            <a:spAutoFit/>
          </a:bodyPr>
          <a:lstStyle/>
          <a:p>
            <a:pPr algn="l">
              <a:lnSpc>
                <a:spcPts val="9990"/>
              </a:lnSpc>
              <a:spcBef>
                <a:spcPct val="0"/>
              </a:spcBef>
            </a:pPr>
            <a:r>
              <a:rPr lang="en-US" sz="942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PROBLEM</a:t>
            </a:r>
            <a:r>
              <a:rPr lang="en-US" sz="942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 Statement</a:t>
            </a:r>
            <a:endParaRPr lang="en-US" sz="942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8" name="TextBox 8"/>
          <p:cNvSpPr txBox="1"/>
          <p:nvPr/>
        </p:nvSpPr>
        <p:spPr>
          <a:xfrm>
            <a:off x="16175678" y="1560323"/>
            <a:ext cx="1418817" cy="263273"/>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04</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2038270" y="2870322"/>
            <a:ext cx="4146166" cy="6629044"/>
          </a:xfrm>
          <a:custGeom>
            <a:avLst/>
            <a:gdLst/>
            <a:ahLst/>
            <a:cxnLst/>
            <a:rect l="l" t="t" r="r" b="b"/>
            <a:pathLst>
              <a:path w="4146166" h="6629044">
                <a:moveTo>
                  <a:pt x="0" y="0"/>
                </a:moveTo>
                <a:lnTo>
                  <a:pt x="4146166" y="0"/>
                </a:lnTo>
                <a:lnTo>
                  <a:pt x="4146166" y="6629044"/>
                </a:lnTo>
                <a:lnTo>
                  <a:pt x="0" y="66290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1488168" y="4268592"/>
            <a:ext cx="5246370" cy="3454914"/>
            <a:chOff x="0" y="0"/>
            <a:chExt cx="812800" cy="535257"/>
          </a:xfrm>
        </p:grpSpPr>
        <p:sp>
          <p:nvSpPr>
            <p:cNvPr id="5" name="Freeform 5"/>
            <p:cNvSpPr/>
            <p:nvPr/>
          </p:nvSpPr>
          <p:spPr>
            <a:xfrm>
              <a:off x="0" y="0"/>
              <a:ext cx="812800" cy="535257"/>
            </a:xfrm>
            <a:custGeom>
              <a:avLst/>
              <a:gdLst/>
              <a:ahLst/>
              <a:cxnLst/>
              <a:rect l="l" t="t" r="r" b="b"/>
              <a:pathLst>
                <a:path w="812800" h="535257">
                  <a:moveTo>
                    <a:pt x="0" y="0"/>
                  </a:moveTo>
                  <a:lnTo>
                    <a:pt x="812800" y="0"/>
                  </a:lnTo>
                  <a:lnTo>
                    <a:pt x="812800" y="535257"/>
                  </a:lnTo>
                  <a:lnTo>
                    <a:pt x="0" y="535257"/>
                  </a:lnTo>
                  <a:close/>
                </a:path>
              </a:pathLst>
            </a:custGeom>
            <a:blipFill>
              <a:blip r:embed="rId5"/>
              <a:stretch>
                <a:fillRect l="-12621" r="-12621"/>
              </a:stretch>
            </a:blipFill>
          </p:spPr>
        </p:sp>
      </p:grpSp>
      <p:sp>
        <p:nvSpPr>
          <p:cNvPr id="7" name="TextBox 7"/>
          <p:cNvSpPr txBox="1"/>
          <p:nvPr/>
        </p:nvSpPr>
        <p:spPr>
          <a:xfrm>
            <a:off x="1711939" y="2809686"/>
            <a:ext cx="5702432" cy="1148238"/>
          </a:xfrm>
          <a:prstGeom prst="rect">
            <a:avLst/>
          </a:prstGeom>
        </p:spPr>
        <p:txBody>
          <a:bodyPr lIns="0" tIns="0" rIns="0" bIns="0" rtlCol="0" anchor="t">
            <a:spAutoFit/>
          </a:bodyPr>
          <a:lstStyle/>
          <a:p>
            <a:pPr algn="l">
              <a:lnSpc>
                <a:spcPts val="8830"/>
              </a:lnSpc>
              <a:spcBef>
                <a:spcPct val="0"/>
              </a:spcBef>
            </a:pPr>
            <a:r>
              <a:rPr lang="en-US" sz="8330"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LLMs</a:t>
            </a:r>
            <a:endParaRPr lang="en-US" sz="8330"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8" name="TextBox 8"/>
          <p:cNvSpPr txBox="1"/>
          <p:nvPr/>
        </p:nvSpPr>
        <p:spPr>
          <a:xfrm>
            <a:off x="16175678" y="1560323"/>
            <a:ext cx="1418817" cy="263273"/>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05</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nvGrpSpPr>
          <p:cNvPr id="9" name="Group 9"/>
          <p:cNvGrpSpPr/>
          <p:nvPr/>
        </p:nvGrpSpPr>
        <p:grpSpPr>
          <a:xfrm rot="0">
            <a:off x="9509488" y="2807984"/>
            <a:ext cx="887220" cy="871089"/>
            <a:chOff x="0" y="0"/>
            <a:chExt cx="1182960" cy="1161452"/>
          </a:xfrm>
        </p:grpSpPr>
        <p:sp>
          <p:nvSpPr>
            <p:cNvPr id="10" name="Freeform 10"/>
            <p:cNvSpPr/>
            <p:nvPr/>
          </p:nvSpPr>
          <p:spPr>
            <a:xfrm>
              <a:off x="0" y="0"/>
              <a:ext cx="1182960" cy="1161452"/>
            </a:xfrm>
            <a:custGeom>
              <a:avLst/>
              <a:gdLst/>
              <a:ahLst/>
              <a:cxnLst/>
              <a:rect l="l" t="t" r="r" b="b"/>
              <a:pathLst>
                <a:path w="1182960" h="1161452">
                  <a:moveTo>
                    <a:pt x="0" y="0"/>
                  </a:moveTo>
                  <a:lnTo>
                    <a:pt x="1182960" y="0"/>
                  </a:lnTo>
                  <a:lnTo>
                    <a:pt x="1182960" y="1161452"/>
                  </a:lnTo>
                  <a:lnTo>
                    <a:pt x="0" y="1161452"/>
                  </a:lnTo>
                  <a:lnTo>
                    <a:pt x="0" y="0"/>
                  </a:lnTo>
                  <a:close/>
                </a:path>
              </a:pathLst>
            </a:custGeom>
            <a:blipFill>
              <a:blip r:embed="rId6">
                <a:alphaModFix amt="72000"/>
                <a:extLst>
                  <a:ext uri="{96DAC541-7B7A-43D3-8B79-37D633B846F1}">
                    <asvg:svgBlip xmlns:asvg="http://schemas.microsoft.com/office/drawing/2016/SVG/main" r:embed="rId7"/>
                  </a:ext>
                </a:extLst>
              </a:blip>
              <a:stretch>
                <a:fillRect/>
              </a:stretch>
            </a:blipFill>
          </p:spPr>
        </p:sp>
        <p:sp>
          <p:nvSpPr>
            <p:cNvPr id="11" name="TextBox 11"/>
            <p:cNvSpPr txBox="1"/>
            <p:nvPr/>
          </p:nvSpPr>
          <p:spPr>
            <a:xfrm>
              <a:off x="591480" y="414723"/>
              <a:ext cx="377802" cy="360581"/>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1.</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sp>
        <p:nvSpPr>
          <p:cNvPr id="12" name="TextBox 12"/>
          <p:cNvSpPr txBox="1"/>
          <p:nvPr/>
        </p:nvSpPr>
        <p:spPr>
          <a:xfrm>
            <a:off x="10659749" y="2957865"/>
            <a:ext cx="5515929" cy="59037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ADVANCED NATURAL LANGUAGE PROCESSING </a:t>
            </a:r>
            <a:endParaRPr lang="en-US" sz="2135" b="1">
              <a:solidFill>
                <a:srgbClr val="FFFFFF"/>
              </a:solidFill>
              <a:latin typeface="Raleway Bold"/>
              <a:ea typeface="Raleway Bold"/>
              <a:cs typeface="Raleway Bold"/>
              <a:sym typeface="Raleway Bold"/>
            </a:endParaRPr>
          </a:p>
        </p:txBody>
      </p:sp>
      <p:sp>
        <p:nvSpPr>
          <p:cNvPr id="13" name="TextBox 13"/>
          <p:cNvSpPr txBox="1"/>
          <p:nvPr/>
        </p:nvSpPr>
        <p:spPr>
          <a:xfrm>
            <a:off x="10659749" y="3698123"/>
            <a:ext cx="7120349" cy="1122441"/>
          </a:xfrm>
          <a:prstGeom prst="rect">
            <a:avLst/>
          </a:prstGeom>
        </p:spPr>
        <p:txBody>
          <a:bodyPr lIns="0" tIns="0" rIns="0" bIns="0" rtlCol="0" anchor="t">
            <a:spAutoFit/>
          </a:bodyPr>
          <a:lstStyle/>
          <a:p>
            <a:pPr algn="l">
              <a:lnSpc>
                <a:spcPts val="2180"/>
              </a:lnSpc>
              <a:spcBef>
                <a:spcPct val="0"/>
              </a:spcBef>
            </a:pPr>
            <a:r>
              <a:rPr lang="en-US" sz="2060" b="1">
                <a:solidFill>
                  <a:srgbClr val="FFFFFF"/>
                </a:solidFill>
                <a:latin typeface="Raleway Semi-Bold"/>
                <a:ea typeface="Raleway Semi-Bold"/>
                <a:cs typeface="Raleway Semi-Bold"/>
                <a:sym typeface="Raleway Semi-Bold"/>
              </a:rPr>
              <a:t>LLMs, such as ChatGPT, Gemini, and LLaMA, are trained on vast datasets to understand and generate human-like text, enabling tasks like content generation, translation, and question-answering.</a:t>
            </a:r>
            <a:endParaRPr lang="en-US" sz="2060" b="1">
              <a:solidFill>
                <a:srgbClr val="FFFFFF"/>
              </a:solidFill>
              <a:latin typeface="Raleway Semi-Bold"/>
              <a:ea typeface="Raleway Semi-Bold"/>
              <a:cs typeface="Raleway Semi-Bold"/>
              <a:sym typeface="Raleway Semi-Bold"/>
            </a:endParaRPr>
          </a:p>
        </p:txBody>
      </p:sp>
      <p:grpSp>
        <p:nvGrpSpPr>
          <p:cNvPr id="14" name="Group 14"/>
          <p:cNvGrpSpPr/>
          <p:nvPr/>
        </p:nvGrpSpPr>
        <p:grpSpPr>
          <a:xfrm rot="0">
            <a:off x="9509488" y="4830201"/>
            <a:ext cx="887220" cy="871089"/>
            <a:chOff x="0" y="0"/>
            <a:chExt cx="1182960" cy="1161452"/>
          </a:xfrm>
        </p:grpSpPr>
        <p:sp>
          <p:nvSpPr>
            <p:cNvPr id="15" name="Freeform 15"/>
            <p:cNvSpPr/>
            <p:nvPr/>
          </p:nvSpPr>
          <p:spPr>
            <a:xfrm>
              <a:off x="0" y="0"/>
              <a:ext cx="1182960" cy="1161452"/>
            </a:xfrm>
            <a:custGeom>
              <a:avLst/>
              <a:gdLst/>
              <a:ahLst/>
              <a:cxnLst/>
              <a:rect l="l" t="t" r="r" b="b"/>
              <a:pathLst>
                <a:path w="1182960" h="1161452">
                  <a:moveTo>
                    <a:pt x="0" y="0"/>
                  </a:moveTo>
                  <a:lnTo>
                    <a:pt x="1182960" y="0"/>
                  </a:lnTo>
                  <a:lnTo>
                    <a:pt x="1182960" y="1161452"/>
                  </a:lnTo>
                  <a:lnTo>
                    <a:pt x="0" y="1161452"/>
                  </a:lnTo>
                  <a:lnTo>
                    <a:pt x="0" y="0"/>
                  </a:lnTo>
                  <a:close/>
                </a:path>
              </a:pathLst>
            </a:custGeom>
            <a:blipFill>
              <a:blip r:embed="rId6">
                <a:alphaModFix amt="72000"/>
                <a:extLst>
                  <a:ext uri="{96DAC541-7B7A-43D3-8B79-37D633B846F1}">
                    <asvg:svgBlip xmlns:asvg="http://schemas.microsoft.com/office/drawing/2016/SVG/main" r:embed="rId7"/>
                  </a:ext>
                </a:extLst>
              </a:blip>
              <a:stretch>
                <a:fillRect/>
              </a:stretch>
            </a:blipFill>
          </p:spPr>
        </p:sp>
        <p:sp>
          <p:nvSpPr>
            <p:cNvPr id="16" name="TextBox 16"/>
            <p:cNvSpPr txBox="1"/>
            <p:nvPr/>
          </p:nvSpPr>
          <p:spPr>
            <a:xfrm>
              <a:off x="591480" y="414723"/>
              <a:ext cx="377802" cy="360581"/>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2.</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sp>
        <p:nvSpPr>
          <p:cNvPr id="17" name="TextBox 17"/>
          <p:cNvSpPr txBox="1"/>
          <p:nvPr/>
        </p:nvSpPr>
        <p:spPr>
          <a:xfrm>
            <a:off x="10659749" y="5138862"/>
            <a:ext cx="6934746"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HIGH DATA AND COMPUTATIONAL REQUIREMENTS</a:t>
            </a:r>
            <a:endParaRPr lang="en-US" sz="2135" b="1">
              <a:solidFill>
                <a:srgbClr val="FFFFFF"/>
              </a:solidFill>
              <a:latin typeface="Raleway Bold"/>
              <a:ea typeface="Raleway Bold"/>
              <a:cs typeface="Raleway Bold"/>
              <a:sym typeface="Raleway Bold"/>
            </a:endParaRPr>
          </a:p>
        </p:txBody>
      </p:sp>
      <p:sp>
        <p:nvSpPr>
          <p:cNvPr id="18" name="TextBox 18"/>
          <p:cNvSpPr txBox="1"/>
          <p:nvPr/>
        </p:nvSpPr>
        <p:spPr>
          <a:xfrm>
            <a:off x="10659749" y="5595889"/>
            <a:ext cx="6934746" cy="846216"/>
          </a:xfrm>
          <a:prstGeom prst="rect">
            <a:avLst/>
          </a:prstGeom>
        </p:spPr>
        <p:txBody>
          <a:bodyPr lIns="0" tIns="0" rIns="0" bIns="0" rtlCol="0" anchor="t">
            <a:spAutoFit/>
          </a:bodyPr>
          <a:lstStyle/>
          <a:p>
            <a:pPr algn="l">
              <a:lnSpc>
                <a:spcPts val="2180"/>
              </a:lnSpc>
              <a:spcBef>
                <a:spcPct val="0"/>
              </a:spcBef>
            </a:pPr>
            <a:r>
              <a:rPr lang="en-US" sz="2060" b="1">
                <a:solidFill>
                  <a:srgbClr val="FFFFFF"/>
                </a:solidFill>
                <a:latin typeface="Raleway Semi-Bold"/>
                <a:ea typeface="Raleway Semi-Bold"/>
                <a:cs typeface="Raleway Semi-Bold"/>
                <a:sym typeface="Raleway Semi-Bold"/>
              </a:rPr>
              <a:t>Training LLMs requires massive amounts of data and extensive computational power, making them resource-intensive and costly to develop and maintain.</a:t>
            </a:r>
            <a:endParaRPr lang="en-US" sz="2060" b="1">
              <a:solidFill>
                <a:srgbClr val="FFFFFF"/>
              </a:solidFill>
              <a:latin typeface="Raleway Semi-Bold"/>
              <a:ea typeface="Raleway Semi-Bold"/>
              <a:cs typeface="Raleway Semi-Bold"/>
              <a:sym typeface="Raleway Semi-Bold"/>
            </a:endParaRPr>
          </a:p>
        </p:txBody>
      </p:sp>
      <p:grpSp>
        <p:nvGrpSpPr>
          <p:cNvPr id="19" name="Group 19"/>
          <p:cNvGrpSpPr/>
          <p:nvPr/>
        </p:nvGrpSpPr>
        <p:grpSpPr>
          <a:xfrm rot="0">
            <a:off x="9509488" y="6852417"/>
            <a:ext cx="887220" cy="871089"/>
            <a:chOff x="0" y="0"/>
            <a:chExt cx="1182960" cy="1161452"/>
          </a:xfrm>
        </p:grpSpPr>
        <p:sp>
          <p:nvSpPr>
            <p:cNvPr id="20" name="Freeform 20"/>
            <p:cNvSpPr/>
            <p:nvPr/>
          </p:nvSpPr>
          <p:spPr>
            <a:xfrm>
              <a:off x="0" y="0"/>
              <a:ext cx="1182960" cy="1161452"/>
            </a:xfrm>
            <a:custGeom>
              <a:avLst/>
              <a:gdLst/>
              <a:ahLst/>
              <a:cxnLst/>
              <a:rect l="l" t="t" r="r" b="b"/>
              <a:pathLst>
                <a:path w="1182960" h="1161452">
                  <a:moveTo>
                    <a:pt x="0" y="0"/>
                  </a:moveTo>
                  <a:lnTo>
                    <a:pt x="1182960" y="0"/>
                  </a:lnTo>
                  <a:lnTo>
                    <a:pt x="1182960" y="1161452"/>
                  </a:lnTo>
                  <a:lnTo>
                    <a:pt x="0" y="1161452"/>
                  </a:lnTo>
                  <a:lnTo>
                    <a:pt x="0" y="0"/>
                  </a:lnTo>
                  <a:close/>
                </a:path>
              </a:pathLst>
            </a:custGeom>
            <a:blipFill>
              <a:blip r:embed="rId6">
                <a:alphaModFix amt="72000"/>
                <a:extLst>
                  <a:ext uri="{96DAC541-7B7A-43D3-8B79-37D633B846F1}">
                    <asvg:svgBlip xmlns:asvg="http://schemas.microsoft.com/office/drawing/2016/SVG/main" r:embed="rId7"/>
                  </a:ext>
                </a:extLst>
              </a:blip>
              <a:stretch>
                <a:fillRect/>
              </a:stretch>
            </a:blipFill>
          </p:spPr>
        </p:sp>
        <p:sp>
          <p:nvSpPr>
            <p:cNvPr id="21" name="TextBox 21"/>
            <p:cNvSpPr txBox="1"/>
            <p:nvPr/>
          </p:nvSpPr>
          <p:spPr>
            <a:xfrm>
              <a:off x="591480" y="414723"/>
              <a:ext cx="377802" cy="360581"/>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3.</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sp>
        <p:nvSpPr>
          <p:cNvPr id="22" name="TextBox 22"/>
          <p:cNvSpPr txBox="1"/>
          <p:nvPr/>
        </p:nvSpPr>
        <p:spPr>
          <a:xfrm>
            <a:off x="10659749" y="7129268"/>
            <a:ext cx="5872858"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SCALABILITY AND ETHICAL CHALLENGES </a:t>
            </a:r>
            <a:endParaRPr lang="en-US" sz="2135" b="1">
              <a:solidFill>
                <a:srgbClr val="FFFFFF"/>
              </a:solidFill>
              <a:latin typeface="Raleway Bold"/>
              <a:ea typeface="Raleway Bold"/>
              <a:cs typeface="Raleway Bold"/>
              <a:sym typeface="Raleway Bold"/>
            </a:endParaRPr>
          </a:p>
        </p:txBody>
      </p:sp>
      <p:sp>
        <p:nvSpPr>
          <p:cNvPr id="23" name="TextBox 23"/>
          <p:cNvSpPr txBox="1"/>
          <p:nvPr/>
        </p:nvSpPr>
        <p:spPr>
          <a:xfrm>
            <a:off x="10659749" y="7654286"/>
            <a:ext cx="6934746" cy="1398666"/>
          </a:xfrm>
          <a:prstGeom prst="rect">
            <a:avLst/>
          </a:prstGeom>
        </p:spPr>
        <p:txBody>
          <a:bodyPr lIns="0" tIns="0" rIns="0" bIns="0" rtlCol="0" anchor="t">
            <a:spAutoFit/>
          </a:bodyPr>
          <a:lstStyle/>
          <a:p>
            <a:pPr algn="l">
              <a:lnSpc>
                <a:spcPts val="2180"/>
              </a:lnSpc>
              <a:spcBef>
                <a:spcPct val="0"/>
              </a:spcBef>
            </a:pPr>
            <a:r>
              <a:rPr lang="en-US" sz="2060" b="1">
                <a:solidFill>
                  <a:srgbClr val="FFFFFF"/>
                </a:solidFill>
                <a:latin typeface="Raleway Semi-Bold"/>
                <a:ea typeface="Raleway Semi-Bold"/>
                <a:cs typeface="Raleway Semi-Bold"/>
                <a:sym typeface="Raleway Semi-Bold"/>
              </a:rPr>
              <a:t>While LLMs can be fine-tuned for various applications across industries, they raise concerns about bias, misinformation, and responsible AI usage, highlighting the need for ethical considerations and continuous improvements.</a:t>
            </a:r>
            <a:endParaRPr lang="en-US" sz="2060" b="1">
              <a:solidFill>
                <a:srgbClr val="FFFFFF"/>
              </a:solidFill>
              <a:latin typeface="Raleway Semi-Bold"/>
              <a:ea typeface="Raleway Semi-Bold"/>
              <a:cs typeface="Raleway Semi-Bold"/>
              <a:sym typeface="Raleway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191729" y="592847"/>
            <a:ext cx="742265" cy="742265"/>
          </a:xfrm>
          <a:custGeom>
            <a:avLst/>
            <a:gdLst/>
            <a:ahLst/>
            <a:cxnLst/>
            <a:rect l="l" t="t" r="r" b="b"/>
            <a:pathLst>
              <a:path w="742265" h="742265">
                <a:moveTo>
                  <a:pt x="0" y="0"/>
                </a:moveTo>
                <a:lnTo>
                  <a:pt x="742265" y="0"/>
                </a:lnTo>
                <a:lnTo>
                  <a:pt x="742265"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607634" y="2644141"/>
            <a:ext cx="7421720" cy="5573037"/>
          </a:xfrm>
          <a:custGeom>
            <a:avLst/>
            <a:gdLst/>
            <a:ahLst/>
            <a:cxnLst/>
            <a:rect l="l" t="t" r="r" b="b"/>
            <a:pathLst>
              <a:path w="7421720" h="5573037">
                <a:moveTo>
                  <a:pt x="0" y="0"/>
                </a:moveTo>
                <a:lnTo>
                  <a:pt x="7421720" y="0"/>
                </a:lnTo>
                <a:lnTo>
                  <a:pt x="7421720" y="5573037"/>
                </a:lnTo>
                <a:lnTo>
                  <a:pt x="0" y="557303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0">
            <a:off x="972596" y="2250433"/>
            <a:ext cx="4261262" cy="6013018"/>
            <a:chOff x="0" y="0"/>
            <a:chExt cx="660181" cy="931574"/>
          </a:xfrm>
        </p:grpSpPr>
        <p:sp>
          <p:nvSpPr>
            <p:cNvPr id="5" name="Freeform 5"/>
            <p:cNvSpPr/>
            <p:nvPr/>
          </p:nvSpPr>
          <p:spPr>
            <a:xfrm>
              <a:off x="0" y="0"/>
              <a:ext cx="660181" cy="931574"/>
            </a:xfrm>
            <a:custGeom>
              <a:avLst/>
              <a:gdLst/>
              <a:ahLst/>
              <a:cxnLst/>
              <a:rect l="l" t="t" r="r" b="b"/>
              <a:pathLst>
                <a:path w="660181" h="931574">
                  <a:moveTo>
                    <a:pt x="0" y="0"/>
                  </a:moveTo>
                  <a:lnTo>
                    <a:pt x="660181" y="0"/>
                  </a:lnTo>
                  <a:lnTo>
                    <a:pt x="660181" y="931574"/>
                  </a:lnTo>
                  <a:lnTo>
                    <a:pt x="0" y="931574"/>
                  </a:lnTo>
                  <a:close/>
                </a:path>
              </a:pathLst>
            </a:custGeom>
            <a:blipFill>
              <a:blip r:embed="rId5"/>
              <a:stretch>
                <a:fillRect l="-44072" r="-44072"/>
              </a:stretch>
            </a:blipFill>
          </p:spPr>
        </p:sp>
      </p:grpSp>
      <p:sp>
        <p:nvSpPr>
          <p:cNvPr id="6" name="TextBox 6"/>
          <p:cNvSpPr txBox="1"/>
          <p:nvPr/>
        </p:nvSpPr>
        <p:spPr>
          <a:xfrm>
            <a:off x="2172327" y="718024"/>
            <a:ext cx="1418817" cy="520485"/>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STUDIO SHODWE</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7" name="TextBox 7"/>
          <p:cNvSpPr txBox="1"/>
          <p:nvPr/>
        </p:nvSpPr>
        <p:spPr>
          <a:xfrm>
            <a:off x="15655469" y="846621"/>
            <a:ext cx="1418817" cy="263273"/>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06</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8" name="TextBox 8"/>
          <p:cNvSpPr txBox="1"/>
          <p:nvPr/>
        </p:nvSpPr>
        <p:spPr>
          <a:xfrm>
            <a:off x="6412944" y="850803"/>
            <a:ext cx="6746200" cy="1566544"/>
          </a:xfrm>
          <a:prstGeom prst="rect">
            <a:avLst/>
          </a:prstGeom>
        </p:spPr>
        <p:txBody>
          <a:bodyPr lIns="0" tIns="0" rIns="0" bIns="0" rtlCol="0" anchor="t">
            <a:spAutoFit/>
          </a:bodyPr>
          <a:lstStyle/>
          <a:p>
            <a:pPr algn="ctr">
              <a:lnSpc>
                <a:spcPts val="12880"/>
              </a:lnSpc>
            </a:pPr>
            <a:r>
              <a:rPr lang="en-US" sz="9200" b="1">
                <a:solidFill>
                  <a:srgbClr val="FFFFFF"/>
                </a:solidFill>
                <a:latin typeface="Canva Sans Bold" panose="020B0803030501040103"/>
                <a:ea typeface="Canva Sans Bold" panose="020B0803030501040103"/>
                <a:cs typeface="Canva Sans Bold" panose="020B0803030501040103"/>
                <a:sym typeface="Canva Sans Bold" panose="020B0803030501040103"/>
              </a:rPr>
              <a:t>Limitations </a:t>
            </a:r>
            <a:endParaRPr lang="en-US" sz="92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9" name="TextBox 9"/>
          <p:cNvSpPr txBox="1"/>
          <p:nvPr/>
        </p:nvSpPr>
        <p:spPr>
          <a:xfrm>
            <a:off x="6100643" y="2901706"/>
            <a:ext cx="6086713" cy="580390"/>
          </a:xfrm>
          <a:prstGeom prst="rect">
            <a:avLst/>
          </a:prstGeom>
        </p:spPr>
        <p:txBody>
          <a:bodyPr lIns="0" tIns="0" rIns="0" bIns="0" rtlCol="0" anchor="t">
            <a:spAutoFit/>
          </a:bodyPr>
          <a:lstStyle/>
          <a:p>
            <a:pPr marL="734060" lvl="1" indent="-367030" algn="ctr">
              <a:lnSpc>
                <a:spcPts val="4760"/>
              </a:lnSpc>
              <a:buFont typeface="Arial" panose="020B0604020202020204"/>
              <a:buChar char="•"/>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High Computational Cost.</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0" name="TextBox 10"/>
          <p:cNvSpPr txBox="1"/>
          <p:nvPr/>
        </p:nvSpPr>
        <p:spPr>
          <a:xfrm>
            <a:off x="6019998" y="4762500"/>
            <a:ext cx="7331075" cy="610235"/>
          </a:xfrm>
          <a:prstGeom prst="rect">
            <a:avLst/>
          </a:prstGeom>
        </p:spPr>
        <p:txBody>
          <a:bodyPr wrap="square" lIns="0" tIns="0" rIns="0" bIns="0" rtlCol="0" anchor="t">
            <a:spAutoFit/>
          </a:bodyPr>
          <a:lstStyle/>
          <a:p>
            <a:pPr marL="734060" lvl="1" indent="-367030" algn="ctr">
              <a:lnSpc>
                <a:spcPts val="4760"/>
              </a:lnSpc>
              <a:buFont typeface="Arial" panose="020B0604020202020204"/>
              <a:buChar char="•"/>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Data Privacy and Security Risks</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1" name="TextBox 11"/>
          <p:cNvSpPr txBox="1"/>
          <p:nvPr/>
        </p:nvSpPr>
        <p:spPr>
          <a:xfrm>
            <a:off x="6019998" y="5753100"/>
            <a:ext cx="5343525" cy="610235"/>
          </a:xfrm>
          <a:prstGeom prst="rect">
            <a:avLst/>
          </a:prstGeom>
        </p:spPr>
        <p:txBody>
          <a:bodyPr wrap="square" lIns="0" tIns="0" rIns="0" bIns="0" rtlCol="0" anchor="t">
            <a:spAutoFit/>
          </a:bodyPr>
          <a:lstStyle/>
          <a:p>
            <a:pPr marL="734060" lvl="1" indent="-367030" algn="ctr">
              <a:lnSpc>
                <a:spcPts val="4760"/>
              </a:lnSpc>
              <a:buFont typeface="Arial" panose="020B0604020202020204"/>
              <a:buChar char="•"/>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Internet Dependency</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
        <p:nvSpPr>
          <p:cNvPr id="12" name="TextBox 12"/>
          <p:cNvSpPr txBox="1"/>
          <p:nvPr/>
        </p:nvSpPr>
        <p:spPr>
          <a:xfrm>
            <a:off x="5715000" y="3795395"/>
            <a:ext cx="7259955" cy="728980"/>
          </a:xfrm>
          <a:prstGeom prst="rect">
            <a:avLst/>
          </a:prstGeom>
        </p:spPr>
        <p:txBody>
          <a:bodyPr lIns="0" tIns="0" rIns="0" bIns="0" rtlCol="0" anchor="t">
            <a:noAutofit/>
          </a:bodyPr>
          <a:lstStyle/>
          <a:p>
            <a:pPr marL="734060" lvl="1" indent="-367030" algn="ctr">
              <a:lnSpc>
                <a:spcPts val="4760"/>
              </a:lnSpc>
              <a:buFont typeface="Arial" panose="020B0604020202020204"/>
              <a:buChar char="•"/>
            </a:pPr>
            <a:r>
              <a:rPr lang="en-US" sz="3400">
                <a:solidFill>
                  <a:srgbClr val="FFFFFF"/>
                </a:solidFill>
                <a:latin typeface="Canva Sans" panose="020B0503030501040103"/>
                <a:ea typeface="Canva Sans" panose="020B0503030501040103"/>
                <a:cs typeface="Canva Sans" panose="020B0503030501040103"/>
                <a:sym typeface="Canva Sans" panose="020B0503030501040103"/>
              </a:rPr>
              <a:t>Model Integration Challenge</a:t>
            </a:r>
            <a:endParaRPr lang="en-US" sz="3400">
              <a:solidFill>
                <a:srgbClr val="FFFFFF"/>
              </a:solidFill>
              <a:latin typeface="Canva Sans" panose="020B0503030501040103"/>
              <a:ea typeface="Canva Sans" panose="020B0503030501040103"/>
              <a:cs typeface="Canva Sans" panose="020B0503030501040103"/>
              <a:sym typeface="Canva Sans" panose="020B05030305010401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273207" y="1627243"/>
            <a:ext cx="15236309" cy="1243318"/>
          </a:xfrm>
          <a:prstGeom prst="rect">
            <a:avLst/>
          </a:prstGeom>
        </p:spPr>
        <p:txBody>
          <a:bodyPr lIns="0" tIns="0" rIns="0" bIns="0" rtlCol="0" anchor="t">
            <a:spAutoFit/>
          </a:bodyPr>
          <a:lstStyle/>
          <a:p>
            <a:pPr algn="ctr">
              <a:lnSpc>
                <a:spcPts val="10220"/>
              </a:lnSpc>
            </a:pPr>
            <a:r>
              <a:rPr lang="en-US" sz="7300" b="1">
                <a:solidFill>
                  <a:srgbClr val="FFFFFF"/>
                </a:solidFill>
                <a:latin typeface="Canva Sans Bold" panose="020B0803030501040103"/>
                <a:ea typeface="Canva Sans Bold" panose="020B0803030501040103"/>
                <a:cs typeface="Canva Sans Bold" panose="020B0803030501040103"/>
                <a:sym typeface="Canva Sans Bold" panose="020B0803030501040103"/>
              </a:rPr>
              <a:t>Overview Of Proposed Solution</a:t>
            </a:r>
            <a:endParaRPr lang="en-US" sz="73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 name="TextBox 3"/>
          <p:cNvSpPr txBox="1"/>
          <p:nvPr/>
        </p:nvSpPr>
        <p:spPr>
          <a:xfrm>
            <a:off x="0" y="4062853"/>
            <a:ext cx="18272986" cy="4308475"/>
          </a:xfrm>
          <a:prstGeom prst="rect">
            <a:avLst/>
          </a:prstGeom>
        </p:spPr>
        <p:txBody>
          <a:bodyPr lIns="0" tIns="0" rIns="0" bIns="0" rtlCol="0" anchor="t">
            <a:spAutoFit/>
          </a:bodyPr>
          <a:lstStyle/>
          <a:p>
            <a:pPr algn="ctr">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We propose a unified AI platform that brings multiple LLMs together in one place, allowing users to access premium AI models under a single subscription. The platform also enables users to upload PDF and CSV files, interact with them using AI, and leverage fine-tuned models for domain-specific queries."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ctr">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Key Features of Our Solution: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Multiple LLMs in One Platform – Access ChatGPT-4, deepseek-R1, LLaMA, and other models under a single subscription.</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just">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Cost-Effective Premium AI Access – No need for multiple expensive subscriptions; one plan unlocks several AI models.</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File Upload &amp; AI Interaction – Upload PDFs and CSVs, ask questions, and extract insights instantly.</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Fine-Tuned AI Models – Specialized models trained for University of Lahore (academic queries) and Cricket.</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r>
              <a:rPr lang="en-US" sz="2400">
                <a:solidFill>
                  <a:srgbClr val="FFFFFF"/>
                </a:solidFill>
                <a:latin typeface="Canva Sans" panose="020B0503030501040103"/>
                <a:ea typeface="Canva Sans" panose="020B0503030501040103"/>
                <a:cs typeface="Canva Sans" panose="020B0503030501040103"/>
                <a:sym typeface="Canva Sans" panose="020B0503030501040103"/>
              </a:rPr>
              <a:t>✅ Seamless Switching Between LLMs – Choose the best model for different tasks effortlessly</a:t>
            </a:r>
            <a:endParaRPr lang="en-US" sz="2400">
              <a:solidFill>
                <a:srgbClr val="FFFFFF"/>
              </a:solidFill>
              <a:latin typeface="Canva Sans" panose="020B0503030501040103"/>
              <a:ea typeface="Canva Sans" panose="020B0503030501040103"/>
              <a:cs typeface="Canva Sans" panose="020B0503030501040103"/>
              <a:sym typeface="Canva Sans" panose="020B0503030501040103"/>
            </a:endParaRPr>
          </a:p>
          <a:p>
            <a:pPr algn="l">
              <a:lnSpc>
                <a:spcPts val="3360"/>
              </a:lnSpc>
            </a:pPr>
          </a:p>
        </p:txBody>
      </p:sp>
      <p:sp>
        <p:nvSpPr>
          <p:cNvPr id="4" name="TextBox 4"/>
          <p:cNvSpPr txBox="1"/>
          <p:nvPr/>
        </p:nvSpPr>
        <p:spPr>
          <a:xfrm>
            <a:off x="15940573" y="765427"/>
            <a:ext cx="1049060" cy="263273"/>
          </a:xfrm>
          <a:prstGeom prst="rect">
            <a:avLst/>
          </a:prstGeom>
        </p:spPr>
        <p:txBody>
          <a:bodyPr lIns="0" tIns="0" rIns="0" bIns="0" rtlCol="0" anchor="t">
            <a:spAutoFit/>
          </a:bodyPr>
          <a:lstStyle/>
          <a:p>
            <a:pPr algn="ctr">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07</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4111353" y="1495490"/>
            <a:ext cx="9756040" cy="2447879"/>
          </a:xfrm>
          <a:custGeom>
            <a:avLst/>
            <a:gdLst/>
            <a:ahLst/>
            <a:cxnLst/>
            <a:rect l="l" t="t" r="r" b="b"/>
            <a:pathLst>
              <a:path w="9756040" h="2447879">
                <a:moveTo>
                  <a:pt x="0" y="0"/>
                </a:moveTo>
                <a:lnTo>
                  <a:pt x="9756040" y="0"/>
                </a:lnTo>
                <a:lnTo>
                  <a:pt x="9756040" y="2447879"/>
                </a:lnTo>
                <a:lnTo>
                  <a:pt x="0" y="244787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2692536" y="1431726"/>
            <a:ext cx="1418817" cy="520485"/>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STUDIO SHODWE</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5" name="TextBox 5"/>
          <p:cNvSpPr txBox="1"/>
          <p:nvPr/>
        </p:nvSpPr>
        <p:spPr>
          <a:xfrm>
            <a:off x="5720060" y="2096439"/>
            <a:ext cx="7549144" cy="1209167"/>
          </a:xfrm>
          <a:prstGeom prst="rect">
            <a:avLst/>
          </a:prstGeom>
        </p:spPr>
        <p:txBody>
          <a:bodyPr lIns="0" tIns="0" rIns="0" bIns="0" rtlCol="0" anchor="t">
            <a:spAutoFit/>
          </a:bodyPr>
          <a:lstStyle/>
          <a:p>
            <a:pPr algn="l">
              <a:lnSpc>
                <a:spcPts val="4025"/>
              </a:lnSpc>
            </a:pPr>
            <a:r>
              <a:rPr lang="en-US" sz="3800" b="1">
                <a:solidFill>
                  <a:srgbClr val="FFFFFF"/>
                </a:solidFill>
                <a:latin typeface="TT Lakes Neue Bold" panose="02010001040000080307"/>
                <a:ea typeface="TT Lakes Neue Bold" panose="02010001040000080307"/>
                <a:cs typeface="TT Lakes Neue Bold" panose="02010001040000080307"/>
                <a:sym typeface="TT Lakes Neue Bold" panose="02010001040000080307"/>
              </a:rPr>
              <a:t>A RISING COMPETITOR IN LLMS</a:t>
            </a:r>
            <a:endParaRPr lang="en-US" sz="3800" b="1">
              <a:solidFill>
                <a:srgbClr val="FFFFFF"/>
              </a:solidFill>
              <a:latin typeface="TT Lakes Neue Bold" panose="02010001040000080307"/>
              <a:ea typeface="TT Lakes Neue Bold" panose="02010001040000080307"/>
              <a:cs typeface="TT Lakes Neue Bold" panose="02010001040000080307"/>
              <a:sym typeface="TT Lakes Neue Bold" panose="02010001040000080307"/>
            </a:endParaRPr>
          </a:p>
          <a:p>
            <a:pPr algn="l">
              <a:lnSpc>
                <a:spcPts val="1590"/>
              </a:lnSpc>
              <a:spcBef>
                <a:spcPct val="0"/>
              </a:spcBef>
            </a:pPr>
          </a:p>
        </p:txBody>
      </p:sp>
      <p:sp>
        <p:nvSpPr>
          <p:cNvPr id="6" name="TextBox 6"/>
          <p:cNvSpPr txBox="1"/>
          <p:nvPr/>
        </p:nvSpPr>
        <p:spPr>
          <a:xfrm>
            <a:off x="16175678" y="1560323"/>
            <a:ext cx="1418817" cy="263273"/>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08</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nvGrpSpPr>
          <p:cNvPr id="7" name="Group 7"/>
          <p:cNvGrpSpPr/>
          <p:nvPr/>
        </p:nvGrpSpPr>
        <p:grpSpPr>
          <a:xfrm rot="0">
            <a:off x="0" y="4192382"/>
            <a:ext cx="18288000" cy="3721654"/>
            <a:chOff x="0" y="0"/>
            <a:chExt cx="4816593" cy="980189"/>
          </a:xfrm>
        </p:grpSpPr>
        <p:sp>
          <p:nvSpPr>
            <p:cNvPr id="8" name="Freeform 8"/>
            <p:cNvSpPr/>
            <p:nvPr/>
          </p:nvSpPr>
          <p:spPr>
            <a:xfrm>
              <a:off x="0" y="0"/>
              <a:ext cx="4816592" cy="980189"/>
            </a:xfrm>
            <a:custGeom>
              <a:avLst/>
              <a:gdLst/>
              <a:ahLst/>
              <a:cxnLst/>
              <a:rect l="l" t="t" r="r" b="b"/>
              <a:pathLst>
                <a:path w="4816592" h="980189">
                  <a:moveTo>
                    <a:pt x="0" y="0"/>
                  </a:moveTo>
                  <a:lnTo>
                    <a:pt x="4816592" y="0"/>
                  </a:lnTo>
                  <a:lnTo>
                    <a:pt x="4816592" y="980189"/>
                  </a:lnTo>
                  <a:lnTo>
                    <a:pt x="0" y="980189"/>
                  </a:lnTo>
                  <a:close/>
                </a:path>
              </a:pathLst>
            </a:custGeom>
            <a:gradFill rotWithShape="1">
              <a:gsLst>
                <a:gs pos="0">
                  <a:srgbClr val="131F40">
                    <a:alpha val="75000"/>
                  </a:srgbClr>
                </a:gs>
                <a:gs pos="100000">
                  <a:srgbClr val="3D6D81">
                    <a:alpha val="75000"/>
                  </a:srgbClr>
                </a:gs>
              </a:gsLst>
              <a:lin ang="0"/>
            </a:gradFill>
          </p:spPr>
        </p:sp>
        <p:sp>
          <p:nvSpPr>
            <p:cNvPr id="9" name="TextBox 9"/>
            <p:cNvSpPr txBox="1"/>
            <p:nvPr/>
          </p:nvSpPr>
          <p:spPr>
            <a:xfrm>
              <a:off x="0" y="28575"/>
              <a:ext cx="4816593" cy="951614"/>
            </a:xfrm>
            <a:prstGeom prst="rect">
              <a:avLst/>
            </a:prstGeom>
          </p:spPr>
          <p:txBody>
            <a:bodyPr lIns="50800" tIns="50800" rIns="50800" bIns="50800" rtlCol="0" anchor="ctr"/>
            <a:lstStyle/>
            <a:p>
              <a:pPr algn="ctr">
                <a:lnSpc>
                  <a:spcPts val="2180"/>
                </a:lnSpc>
              </a:pPr>
            </a:p>
          </p:txBody>
        </p:sp>
      </p:grpSp>
      <p:sp>
        <p:nvSpPr>
          <p:cNvPr id="10" name="Freeform 10"/>
          <p:cNvSpPr/>
          <p:nvPr/>
        </p:nvSpPr>
        <p:spPr>
          <a:xfrm>
            <a:off x="1009487" y="4667447"/>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r:embed="rId5">
              <a:alphaModFix amt="72000"/>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1359648" y="5026142"/>
            <a:ext cx="283352" cy="263292"/>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1.</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12" name="TextBox 12"/>
          <p:cNvSpPr txBox="1"/>
          <p:nvPr/>
        </p:nvSpPr>
        <p:spPr>
          <a:xfrm>
            <a:off x="2083071" y="4984806"/>
            <a:ext cx="2857861"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WHAT IS DEEPSEEK?</a:t>
            </a:r>
            <a:endParaRPr lang="en-US" sz="2135" b="1">
              <a:solidFill>
                <a:srgbClr val="FFFFFF"/>
              </a:solidFill>
              <a:latin typeface="Raleway Bold"/>
              <a:ea typeface="Raleway Bold"/>
              <a:cs typeface="Raleway Bold"/>
              <a:sym typeface="Raleway Bold"/>
            </a:endParaRPr>
          </a:p>
        </p:txBody>
      </p:sp>
      <p:sp>
        <p:nvSpPr>
          <p:cNvPr id="13" name="TextBox 13"/>
          <p:cNvSpPr txBox="1"/>
          <p:nvPr/>
        </p:nvSpPr>
        <p:spPr>
          <a:xfrm>
            <a:off x="1237912" y="5703519"/>
            <a:ext cx="5435479" cy="2227341"/>
          </a:xfrm>
          <a:prstGeom prst="rect">
            <a:avLst/>
          </a:prstGeom>
        </p:spPr>
        <p:txBody>
          <a:bodyPr lIns="0" tIns="0" rIns="0" bIns="0" rtlCol="0" anchor="t">
            <a:spAutoFit/>
          </a:bodyPr>
          <a:lstStyle/>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DeepSeek is an advanced AI research company focused on open-source large language models.</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Competing with major players like OpenAI and NVIDIA by developing high-performance, cost-efficient AI models.</a:t>
            </a:r>
            <a:endParaRPr lang="en-US" sz="2060" b="1">
              <a:solidFill>
                <a:srgbClr val="FFFFFF"/>
              </a:solidFill>
              <a:latin typeface="Raleway Semi-Bold"/>
              <a:ea typeface="Raleway Semi-Bold"/>
              <a:cs typeface="Raleway Semi-Bold"/>
              <a:sym typeface="Raleway Semi-Bold"/>
            </a:endParaRPr>
          </a:p>
          <a:p>
            <a:pPr algn="l">
              <a:lnSpc>
                <a:spcPts val="2180"/>
              </a:lnSpc>
            </a:pPr>
          </a:p>
          <a:p>
            <a:pPr algn="l">
              <a:lnSpc>
                <a:spcPts val="2180"/>
              </a:lnSpc>
              <a:spcBef>
                <a:spcPct val="0"/>
              </a:spcBef>
            </a:pPr>
          </a:p>
        </p:txBody>
      </p:sp>
      <p:grpSp>
        <p:nvGrpSpPr>
          <p:cNvPr id="14" name="Group 14"/>
          <p:cNvGrpSpPr/>
          <p:nvPr/>
        </p:nvGrpSpPr>
        <p:grpSpPr>
          <a:xfrm rot="0">
            <a:off x="6940091" y="4667447"/>
            <a:ext cx="887220" cy="871089"/>
            <a:chOff x="0" y="0"/>
            <a:chExt cx="1182960" cy="1161452"/>
          </a:xfrm>
        </p:grpSpPr>
        <p:sp>
          <p:nvSpPr>
            <p:cNvPr id="15" name="Freeform 15"/>
            <p:cNvSpPr/>
            <p:nvPr/>
          </p:nvSpPr>
          <p:spPr>
            <a:xfrm>
              <a:off x="0" y="0"/>
              <a:ext cx="1182960" cy="1161452"/>
            </a:xfrm>
            <a:custGeom>
              <a:avLst/>
              <a:gdLst/>
              <a:ahLst/>
              <a:cxnLst/>
              <a:rect l="l" t="t" r="r" b="b"/>
              <a:pathLst>
                <a:path w="1182960" h="1161452">
                  <a:moveTo>
                    <a:pt x="0" y="0"/>
                  </a:moveTo>
                  <a:lnTo>
                    <a:pt x="1182960" y="0"/>
                  </a:lnTo>
                  <a:lnTo>
                    <a:pt x="1182960" y="1161452"/>
                  </a:lnTo>
                  <a:lnTo>
                    <a:pt x="0" y="1161452"/>
                  </a:lnTo>
                  <a:lnTo>
                    <a:pt x="0" y="0"/>
                  </a:lnTo>
                  <a:close/>
                </a:path>
              </a:pathLst>
            </a:custGeom>
            <a:blipFill>
              <a:blip r:embed="rId5">
                <a:alphaModFix amt="72000"/>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591480" y="414723"/>
              <a:ext cx="377802" cy="360581"/>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2.</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sp>
        <p:nvSpPr>
          <p:cNvPr id="17" name="TextBox 17"/>
          <p:cNvSpPr txBox="1"/>
          <p:nvPr/>
        </p:nvSpPr>
        <p:spPr>
          <a:xfrm>
            <a:off x="8017811" y="4984806"/>
            <a:ext cx="2762528"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IMPACT ON OPENAI </a:t>
            </a:r>
            <a:endParaRPr lang="en-US" sz="2135" b="1">
              <a:solidFill>
                <a:srgbClr val="FFFFFF"/>
              </a:solidFill>
              <a:latin typeface="Raleway Bold"/>
              <a:ea typeface="Raleway Bold"/>
              <a:cs typeface="Raleway Bold"/>
              <a:sym typeface="Raleway Bold"/>
            </a:endParaRPr>
          </a:p>
        </p:txBody>
      </p:sp>
      <p:sp>
        <p:nvSpPr>
          <p:cNvPr id="18" name="TextBox 18"/>
          <p:cNvSpPr txBox="1"/>
          <p:nvPr/>
        </p:nvSpPr>
        <p:spPr>
          <a:xfrm>
            <a:off x="6940091" y="5703519"/>
            <a:ext cx="5228152" cy="1951116"/>
          </a:xfrm>
          <a:prstGeom prst="rect">
            <a:avLst/>
          </a:prstGeom>
        </p:spPr>
        <p:txBody>
          <a:bodyPr lIns="0" tIns="0" rIns="0" bIns="0" rtlCol="0" anchor="t">
            <a:spAutoFit/>
          </a:bodyPr>
          <a:lstStyle/>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DeepSeek’s open-source approach challenges OpenAI’s closed ecosystem.</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Provides affordable AI alternatives, attracting developers and enterprises looking for customizable AI models.</a:t>
            </a:r>
            <a:endParaRPr lang="en-US" sz="2060" b="1">
              <a:solidFill>
                <a:srgbClr val="FFFFFF"/>
              </a:solidFill>
              <a:latin typeface="Raleway Semi-Bold"/>
              <a:ea typeface="Raleway Semi-Bold"/>
              <a:cs typeface="Raleway Semi-Bold"/>
              <a:sym typeface="Raleway Semi-Bold"/>
            </a:endParaRPr>
          </a:p>
          <a:p>
            <a:pPr algn="l">
              <a:lnSpc>
                <a:spcPts val="2180"/>
              </a:lnSpc>
              <a:spcBef>
                <a:spcPct val="0"/>
              </a:spcBef>
            </a:pPr>
          </a:p>
        </p:txBody>
      </p:sp>
      <p:grpSp>
        <p:nvGrpSpPr>
          <p:cNvPr id="19" name="Group 19"/>
          <p:cNvGrpSpPr/>
          <p:nvPr/>
        </p:nvGrpSpPr>
        <p:grpSpPr>
          <a:xfrm rot="0">
            <a:off x="12168243" y="4667447"/>
            <a:ext cx="887220" cy="871089"/>
            <a:chOff x="0" y="0"/>
            <a:chExt cx="1182960" cy="1161452"/>
          </a:xfrm>
        </p:grpSpPr>
        <p:sp>
          <p:nvSpPr>
            <p:cNvPr id="20" name="Freeform 20"/>
            <p:cNvSpPr/>
            <p:nvPr/>
          </p:nvSpPr>
          <p:spPr>
            <a:xfrm>
              <a:off x="0" y="0"/>
              <a:ext cx="1182960" cy="1161452"/>
            </a:xfrm>
            <a:custGeom>
              <a:avLst/>
              <a:gdLst/>
              <a:ahLst/>
              <a:cxnLst/>
              <a:rect l="l" t="t" r="r" b="b"/>
              <a:pathLst>
                <a:path w="1182960" h="1161452">
                  <a:moveTo>
                    <a:pt x="0" y="0"/>
                  </a:moveTo>
                  <a:lnTo>
                    <a:pt x="1182960" y="0"/>
                  </a:lnTo>
                  <a:lnTo>
                    <a:pt x="1182960" y="1161452"/>
                  </a:lnTo>
                  <a:lnTo>
                    <a:pt x="0" y="1161452"/>
                  </a:lnTo>
                  <a:lnTo>
                    <a:pt x="0" y="0"/>
                  </a:lnTo>
                  <a:close/>
                </a:path>
              </a:pathLst>
            </a:custGeom>
            <a:blipFill>
              <a:blip r:embed="rId5">
                <a:alphaModFix amt="72000"/>
                <a:extLst>
                  <a:ext uri="{96DAC541-7B7A-43D3-8B79-37D633B846F1}">
                    <asvg:svgBlip xmlns:asvg="http://schemas.microsoft.com/office/drawing/2016/SVG/main" r:embed="rId6"/>
                  </a:ext>
                </a:extLst>
              </a:blip>
              <a:stretch>
                <a:fillRect/>
              </a:stretch>
            </a:blipFill>
          </p:spPr>
        </p:sp>
        <p:sp>
          <p:nvSpPr>
            <p:cNvPr id="21" name="TextBox 21"/>
            <p:cNvSpPr txBox="1"/>
            <p:nvPr/>
          </p:nvSpPr>
          <p:spPr>
            <a:xfrm>
              <a:off x="591480" y="414723"/>
              <a:ext cx="377802" cy="360581"/>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3.</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grpSp>
      <p:sp>
        <p:nvSpPr>
          <p:cNvPr id="22" name="TextBox 22"/>
          <p:cNvSpPr txBox="1"/>
          <p:nvPr/>
        </p:nvSpPr>
        <p:spPr>
          <a:xfrm>
            <a:off x="13341523" y="4984806"/>
            <a:ext cx="3811192"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IMPACT ON NVIDIA</a:t>
            </a:r>
            <a:endParaRPr lang="en-US" sz="2135" b="1">
              <a:solidFill>
                <a:srgbClr val="FFFFFF"/>
              </a:solidFill>
              <a:latin typeface="Raleway Bold"/>
              <a:ea typeface="Raleway Bold"/>
              <a:cs typeface="Raleway Bold"/>
              <a:sym typeface="Raleway Bold"/>
            </a:endParaRPr>
          </a:p>
        </p:txBody>
      </p:sp>
      <p:sp>
        <p:nvSpPr>
          <p:cNvPr id="23" name="TextBox 23"/>
          <p:cNvSpPr txBox="1"/>
          <p:nvPr/>
        </p:nvSpPr>
        <p:spPr>
          <a:xfrm>
            <a:off x="12434943" y="5686695"/>
            <a:ext cx="4694752" cy="2227341"/>
          </a:xfrm>
          <a:prstGeom prst="rect">
            <a:avLst/>
          </a:prstGeom>
        </p:spPr>
        <p:txBody>
          <a:bodyPr lIns="0" tIns="0" rIns="0" bIns="0" rtlCol="0" anchor="t">
            <a:spAutoFit/>
          </a:bodyPr>
          <a:lstStyle/>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DeepSeek’s optimization of AI models for smaller hardware could reduce dependency on NVIDIA’s high-end GPUs.</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Encourages competition in AI hardware efficiency, pushing for cost-effective AI training.</a:t>
            </a:r>
            <a:endParaRPr lang="en-US" sz="2060" b="1">
              <a:solidFill>
                <a:srgbClr val="FFFFFF"/>
              </a:solidFill>
              <a:latin typeface="Raleway Semi-Bold"/>
              <a:ea typeface="Raleway Semi-Bold"/>
              <a:cs typeface="Raleway Semi-Bold"/>
              <a:sym typeface="Raleway Semi-Bold"/>
            </a:endParaRPr>
          </a:p>
          <a:p>
            <a:pPr algn="l">
              <a:lnSpc>
                <a:spcPts val="2180"/>
              </a:lnSpc>
              <a:spcBef>
                <a:spcPct val="0"/>
              </a:spcBef>
            </a:p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243756" y="2235011"/>
            <a:ext cx="6798762" cy="1803816"/>
          </a:xfrm>
          <a:prstGeom prst="rect">
            <a:avLst/>
          </a:prstGeom>
        </p:spPr>
        <p:txBody>
          <a:bodyPr lIns="0" tIns="0" rIns="0" bIns="0" rtlCol="0" anchor="t">
            <a:spAutoFit/>
          </a:bodyPr>
          <a:lstStyle/>
          <a:p>
            <a:pPr algn="l">
              <a:lnSpc>
                <a:spcPts val="7030"/>
              </a:lnSpc>
              <a:spcBef>
                <a:spcPct val="0"/>
              </a:spcBef>
            </a:pPr>
            <a:r>
              <a:rPr lang="en-US" sz="6630"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DATASET COLLECTION</a:t>
            </a:r>
            <a:endParaRPr lang="en-US" sz="6630"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4" name="TextBox 4"/>
          <p:cNvSpPr txBox="1"/>
          <p:nvPr/>
        </p:nvSpPr>
        <p:spPr>
          <a:xfrm>
            <a:off x="16175678" y="765408"/>
            <a:ext cx="1418817" cy="263273"/>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09</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5" name="Freeform 5"/>
          <p:cNvSpPr/>
          <p:nvPr/>
        </p:nvSpPr>
        <p:spPr>
          <a:xfrm>
            <a:off x="15990108" y="7290349"/>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r:embed="rId3">
              <a:alphaModFix amt="27000"/>
              <a:extLst>
                <a:ext uri="{96DAC541-7B7A-43D3-8B79-37D633B846F1}">
                  <asvg:svgBlip xmlns:asvg="http://schemas.microsoft.com/office/drawing/2016/SVG/main" r:embed="rId4"/>
                </a:ext>
              </a:extLst>
            </a:blip>
            <a:stretch>
              <a:fillRect/>
            </a:stretch>
          </a:blipFill>
        </p:spPr>
      </p:sp>
      <p:sp>
        <p:nvSpPr>
          <p:cNvPr id="6" name="Freeform 6"/>
          <p:cNvSpPr/>
          <p:nvPr/>
        </p:nvSpPr>
        <p:spPr>
          <a:xfrm>
            <a:off x="1711939" y="4304786"/>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r:embed="rId3">
              <a:alphaModFix amt="72000"/>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2083071" y="4622972"/>
            <a:ext cx="283352" cy="263292"/>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1.</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8" name="TextBox 8"/>
          <p:cNvSpPr txBox="1"/>
          <p:nvPr/>
        </p:nvSpPr>
        <p:spPr>
          <a:xfrm>
            <a:off x="2756927" y="4990573"/>
            <a:ext cx="6377190" cy="569991"/>
          </a:xfrm>
          <a:prstGeom prst="rect">
            <a:avLst/>
          </a:prstGeom>
        </p:spPr>
        <p:txBody>
          <a:bodyPr lIns="0" tIns="0" rIns="0" bIns="0" rtlCol="0" anchor="t">
            <a:spAutoFit/>
          </a:bodyPr>
          <a:lstStyle/>
          <a:p>
            <a:pPr algn="l">
              <a:lnSpc>
                <a:spcPts val="2180"/>
              </a:lnSpc>
              <a:spcBef>
                <a:spcPct val="0"/>
              </a:spcBef>
            </a:pPr>
            <a:r>
              <a:rPr lang="en-US" sz="2060" b="1">
                <a:solidFill>
                  <a:srgbClr val="FFFFFF"/>
                </a:solidFill>
                <a:latin typeface="Raleway Semi-Bold"/>
                <a:ea typeface="Raleway Semi-Bold"/>
                <a:cs typeface="Raleway Semi-Bold"/>
                <a:sym typeface="Raleway Semi-Bold"/>
              </a:rPr>
              <a:t>Academic programs, faculty details, admission info, student guidelines.</a:t>
            </a:r>
            <a:endParaRPr lang="en-US" sz="2060" b="1">
              <a:solidFill>
                <a:srgbClr val="FFFFFF"/>
              </a:solidFill>
              <a:latin typeface="Raleway Semi-Bold"/>
              <a:ea typeface="Raleway Semi-Bold"/>
              <a:cs typeface="Raleway Semi-Bold"/>
              <a:sym typeface="Raleway Semi-Bold"/>
            </a:endParaRPr>
          </a:p>
        </p:txBody>
      </p:sp>
      <p:sp>
        <p:nvSpPr>
          <p:cNvPr id="9" name="Freeform 9"/>
          <p:cNvSpPr/>
          <p:nvPr/>
        </p:nvSpPr>
        <p:spPr>
          <a:xfrm>
            <a:off x="1711939" y="6049205"/>
            <a:ext cx="887220" cy="871089"/>
          </a:xfrm>
          <a:custGeom>
            <a:avLst/>
            <a:gdLst/>
            <a:ahLst/>
            <a:cxnLst/>
            <a:rect l="l" t="t" r="r" b="b"/>
            <a:pathLst>
              <a:path w="887220" h="871089">
                <a:moveTo>
                  <a:pt x="0" y="0"/>
                </a:moveTo>
                <a:lnTo>
                  <a:pt x="887220" y="0"/>
                </a:lnTo>
                <a:lnTo>
                  <a:pt x="887220" y="871089"/>
                </a:lnTo>
                <a:lnTo>
                  <a:pt x="0" y="871089"/>
                </a:lnTo>
                <a:lnTo>
                  <a:pt x="0" y="0"/>
                </a:lnTo>
                <a:close/>
              </a:path>
            </a:pathLst>
          </a:custGeom>
          <a:blipFill>
            <a:blip r:embed="rId3">
              <a:alphaModFix amt="72000"/>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2083071" y="6333325"/>
            <a:ext cx="298655" cy="263292"/>
          </a:xfrm>
          <a:prstGeom prst="rect">
            <a:avLst/>
          </a:prstGeom>
        </p:spPr>
        <p:txBody>
          <a:bodyPr lIns="0" tIns="0" rIns="0" bIns="0" rtlCol="0" anchor="t">
            <a:spAutoFit/>
          </a:bodyPr>
          <a:lstStyle/>
          <a:p>
            <a:pPr algn="l">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2.</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
        <p:nvSpPr>
          <p:cNvPr id="11" name="TextBox 11"/>
          <p:cNvSpPr txBox="1"/>
          <p:nvPr/>
        </p:nvSpPr>
        <p:spPr>
          <a:xfrm>
            <a:off x="2756927" y="4581637"/>
            <a:ext cx="5257077"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UNIVERSITY OF LAHORE WEBSITE </a:t>
            </a:r>
            <a:endParaRPr lang="en-US" sz="2135" b="1">
              <a:solidFill>
                <a:srgbClr val="FFFFFF"/>
              </a:solidFill>
              <a:latin typeface="Raleway Bold"/>
              <a:ea typeface="Raleway Bold"/>
              <a:cs typeface="Raleway Bold"/>
              <a:sym typeface="Raleway Bold"/>
            </a:endParaRPr>
          </a:p>
        </p:txBody>
      </p:sp>
      <p:sp>
        <p:nvSpPr>
          <p:cNvPr id="12" name="TextBox 12"/>
          <p:cNvSpPr txBox="1"/>
          <p:nvPr/>
        </p:nvSpPr>
        <p:spPr>
          <a:xfrm>
            <a:off x="2756927" y="6782936"/>
            <a:ext cx="6377190" cy="293766"/>
          </a:xfrm>
          <a:prstGeom prst="rect">
            <a:avLst/>
          </a:prstGeom>
        </p:spPr>
        <p:txBody>
          <a:bodyPr lIns="0" tIns="0" rIns="0" bIns="0" rtlCol="0" anchor="t">
            <a:spAutoFit/>
          </a:bodyPr>
          <a:lstStyle/>
          <a:p>
            <a:pPr algn="l">
              <a:lnSpc>
                <a:spcPts val="2180"/>
              </a:lnSpc>
              <a:spcBef>
                <a:spcPct val="0"/>
              </a:spcBef>
            </a:pPr>
            <a:r>
              <a:rPr lang="en-US" sz="2060" b="1">
                <a:solidFill>
                  <a:srgbClr val="FFFFFF"/>
                </a:solidFill>
                <a:latin typeface="Raleway Semi-Bold"/>
                <a:ea typeface="Raleway Semi-Bold"/>
                <a:cs typeface="Raleway Semi-Bold"/>
                <a:sym typeface="Raleway Semi-Bold"/>
              </a:rPr>
              <a:t>Player stats, match records, team rankings.</a:t>
            </a:r>
            <a:endParaRPr lang="en-US" sz="2060" b="1">
              <a:solidFill>
                <a:srgbClr val="FFFFFF"/>
              </a:solidFill>
              <a:latin typeface="Raleway Semi-Bold"/>
              <a:ea typeface="Raleway Semi-Bold"/>
              <a:cs typeface="Raleway Semi-Bold"/>
              <a:sym typeface="Raleway Semi-Bold"/>
            </a:endParaRPr>
          </a:p>
        </p:txBody>
      </p:sp>
      <p:sp>
        <p:nvSpPr>
          <p:cNvPr id="13" name="Freeform 13"/>
          <p:cNvSpPr/>
          <p:nvPr/>
        </p:nvSpPr>
        <p:spPr>
          <a:xfrm>
            <a:off x="2381726" y="8111636"/>
            <a:ext cx="4416262" cy="698572"/>
          </a:xfrm>
          <a:custGeom>
            <a:avLst/>
            <a:gdLst/>
            <a:ahLst/>
            <a:cxnLst/>
            <a:rect l="l" t="t" r="r" b="b"/>
            <a:pathLst>
              <a:path w="4416262" h="698572">
                <a:moveTo>
                  <a:pt x="0" y="0"/>
                </a:moveTo>
                <a:lnTo>
                  <a:pt x="4416261" y="0"/>
                </a:lnTo>
                <a:lnTo>
                  <a:pt x="4416261" y="698572"/>
                </a:lnTo>
                <a:lnTo>
                  <a:pt x="0" y="6985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TextBox 14"/>
          <p:cNvSpPr txBox="1"/>
          <p:nvPr/>
        </p:nvSpPr>
        <p:spPr>
          <a:xfrm>
            <a:off x="2862199" y="8343564"/>
            <a:ext cx="3129384" cy="263273"/>
          </a:xfrm>
          <a:prstGeom prst="rect">
            <a:avLst/>
          </a:prstGeom>
        </p:spPr>
        <p:txBody>
          <a:bodyPr lIns="0" tIns="0" rIns="0" bIns="0" rtlCol="0" anchor="t">
            <a:spAutoFit/>
          </a:bodyPr>
          <a:lstStyle/>
          <a:p>
            <a:pPr algn="l">
              <a:lnSpc>
                <a:spcPts val="2065"/>
              </a:lnSpc>
            </a:pPr>
            <a:r>
              <a:rPr lang="en-US" sz="1950" u="sng">
                <a:solidFill>
                  <a:srgbClr val="FFFFFF"/>
                </a:solidFill>
                <a:latin typeface="TT Lakes Neue" panose="02010001040000080307"/>
                <a:ea typeface="TT Lakes Neue" panose="02010001040000080307"/>
                <a:cs typeface="TT Lakes Neue" panose="02010001040000080307"/>
                <a:sym typeface="TT Lakes Neue" panose="02010001040000080307"/>
                <a:hlinkClick r:id="rId7" tooltip="https://huggingface.co/atta123"/>
              </a:rPr>
              <a:t>dataset link</a:t>
            </a:r>
            <a:endParaRPr lang="en-US" sz="1950" u="sng">
              <a:solidFill>
                <a:srgbClr val="FFFFFF"/>
              </a:solidFill>
              <a:latin typeface="TT Lakes Neue" panose="02010001040000080307"/>
              <a:ea typeface="TT Lakes Neue" panose="02010001040000080307"/>
              <a:cs typeface="TT Lakes Neue" panose="02010001040000080307"/>
              <a:sym typeface="TT Lakes Neue" panose="02010001040000080307"/>
              <a:hlinkClick r:id="rId7" tooltip="https://huggingface.co/atta123"/>
            </a:endParaRPr>
          </a:p>
        </p:txBody>
      </p:sp>
      <p:sp>
        <p:nvSpPr>
          <p:cNvPr id="15" name="Freeform 15"/>
          <p:cNvSpPr/>
          <p:nvPr/>
        </p:nvSpPr>
        <p:spPr>
          <a:xfrm rot="-5400000">
            <a:off x="11097117" y="2099746"/>
            <a:ext cx="7421720" cy="5573037"/>
          </a:xfrm>
          <a:custGeom>
            <a:avLst/>
            <a:gdLst/>
            <a:ahLst/>
            <a:cxnLst/>
            <a:rect l="l" t="t" r="r" b="b"/>
            <a:pathLst>
              <a:path w="7421720" h="5573037">
                <a:moveTo>
                  <a:pt x="0" y="0"/>
                </a:moveTo>
                <a:lnTo>
                  <a:pt x="7421719" y="0"/>
                </a:lnTo>
                <a:lnTo>
                  <a:pt x="7421719" y="5573036"/>
                </a:lnTo>
                <a:lnTo>
                  <a:pt x="0" y="557303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6" name="Group 16"/>
          <p:cNvGrpSpPr/>
          <p:nvPr/>
        </p:nvGrpSpPr>
        <p:grpSpPr>
          <a:xfrm rot="0">
            <a:off x="12692249" y="1879755"/>
            <a:ext cx="4261262" cy="6013018"/>
            <a:chOff x="0" y="0"/>
            <a:chExt cx="660181" cy="931574"/>
          </a:xfrm>
        </p:grpSpPr>
        <p:sp>
          <p:nvSpPr>
            <p:cNvPr id="17" name="Freeform 17"/>
            <p:cNvSpPr/>
            <p:nvPr/>
          </p:nvSpPr>
          <p:spPr>
            <a:xfrm>
              <a:off x="0" y="0"/>
              <a:ext cx="660181" cy="931574"/>
            </a:xfrm>
            <a:custGeom>
              <a:avLst/>
              <a:gdLst/>
              <a:ahLst/>
              <a:cxnLst/>
              <a:rect l="l" t="t" r="r" b="b"/>
              <a:pathLst>
                <a:path w="660181" h="931574">
                  <a:moveTo>
                    <a:pt x="0" y="0"/>
                  </a:moveTo>
                  <a:lnTo>
                    <a:pt x="660181" y="0"/>
                  </a:lnTo>
                  <a:lnTo>
                    <a:pt x="660181" y="931574"/>
                  </a:lnTo>
                  <a:lnTo>
                    <a:pt x="0" y="931574"/>
                  </a:lnTo>
                  <a:close/>
                </a:path>
              </a:pathLst>
            </a:custGeom>
            <a:blipFill>
              <a:blip r:embed="rId10"/>
              <a:stretch>
                <a:fillRect t="-3283" b="-3283"/>
              </a:stretch>
            </a:blipFill>
          </p:spPr>
        </p:sp>
      </p:grpSp>
      <p:sp>
        <p:nvSpPr>
          <p:cNvPr id="18" name="TextBox 18"/>
          <p:cNvSpPr txBox="1"/>
          <p:nvPr/>
        </p:nvSpPr>
        <p:spPr>
          <a:xfrm>
            <a:off x="2756927" y="6341961"/>
            <a:ext cx="5257077" cy="304627"/>
          </a:xfrm>
          <a:prstGeom prst="rect">
            <a:avLst/>
          </a:prstGeom>
        </p:spPr>
        <p:txBody>
          <a:bodyPr lIns="0" tIns="0" rIns="0" bIns="0" rtlCol="0" anchor="t">
            <a:spAutoFit/>
          </a:bodyPr>
          <a:lstStyle/>
          <a:p>
            <a:pPr algn="l">
              <a:lnSpc>
                <a:spcPts val="2260"/>
              </a:lnSpc>
              <a:spcBef>
                <a:spcPct val="0"/>
              </a:spcBef>
            </a:pPr>
            <a:r>
              <a:rPr lang="en-US" sz="2135" b="1">
                <a:solidFill>
                  <a:srgbClr val="FFFFFF"/>
                </a:solidFill>
                <a:latin typeface="Raleway Bold"/>
                <a:ea typeface="Raleway Bold"/>
                <a:cs typeface="Raleway Bold"/>
                <a:sym typeface="Raleway Bold"/>
              </a:rPr>
              <a:t>CRICINFO </a:t>
            </a:r>
            <a:endParaRPr lang="en-US" sz="2135" b="1">
              <a:solidFill>
                <a:srgbClr val="FFFFFF"/>
              </a:solidFill>
              <a:latin typeface="Raleway Bold"/>
              <a:ea typeface="Raleway Bold"/>
              <a:cs typeface="Raleway Bold"/>
              <a:sym typeface="Raleway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488892" y="1933617"/>
            <a:ext cx="12539606" cy="7570787"/>
          </a:xfrm>
          <a:custGeom>
            <a:avLst/>
            <a:gdLst/>
            <a:ahLst/>
            <a:cxnLst/>
            <a:rect l="l" t="t" r="r" b="b"/>
            <a:pathLst>
              <a:path w="12539606" h="7570787">
                <a:moveTo>
                  <a:pt x="0" y="0"/>
                </a:moveTo>
                <a:lnTo>
                  <a:pt x="12539607" y="0"/>
                </a:lnTo>
                <a:lnTo>
                  <a:pt x="12539607" y="7570787"/>
                </a:lnTo>
                <a:lnTo>
                  <a:pt x="0" y="7570787"/>
                </a:lnTo>
                <a:lnTo>
                  <a:pt x="0" y="0"/>
                </a:lnTo>
                <a:close/>
              </a:path>
            </a:pathLst>
          </a:custGeom>
          <a:blipFill>
            <a:blip r:embed="rId1"/>
            <a:stretch>
              <a:fillRect/>
            </a:stretch>
          </a:blipFill>
        </p:spPr>
      </p:sp>
      <p:sp>
        <p:nvSpPr>
          <p:cNvPr id="3" name="TextBox 3"/>
          <p:cNvSpPr txBox="1"/>
          <p:nvPr/>
        </p:nvSpPr>
        <p:spPr>
          <a:xfrm>
            <a:off x="5150268" y="291423"/>
            <a:ext cx="7216854" cy="887095"/>
          </a:xfrm>
          <a:prstGeom prst="rect">
            <a:avLst/>
          </a:prstGeom>
        </p:spPr>
        <p:txBody>
          <a:bodyPr lIns="0" tIns="0" rIns="0" bIns="0" rtlCol="0" anchor="t">
            <a:spAutoFit/>
          </a:bodyPr>
          <a:lstStyle/>
          <a:p>
            <a:pPr algn="ctr">
              <a:lnSpc>
                <a:spcPts val="7280"/>
              </a:lnSpc>
            </a:pPr>
            <a:r>
              <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rPr>
              <a:t>T5 Fine-tunning Graph</a:t>
            </a:r>
            <a:endPar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 name="TextBox 4"/>
          <p:cNvSpPr txBox="1"/>
          <p:nvPr/>
        </p:nvSpPr>
        <p:spPr>
          <a:xfrm>
            <a:off x="15953792" y="811171"/>
            <a:ext cx="1024295" cy="263273"/>
          </a:xfrm>
          <a:prstGeom prst="rect">
            <a:avLst/>
          </a:prstGeom>
        </p:spPr>
        <p:txBody>
          <a:bodyPr lIns="0" tIns="0" rIns="0" bIns="0" rtlCol="0" anchor="t">
            <a:spAutoFit/>
          </a:bodyPr>
          <a:lstStyle/>
          <a:p>
            <a:pPr algn="ctr">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10</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611658" y="2007401"/>
            <a:ext cx="13064684" cy="7250899"/>
          </a:xfrm>
          <a:custGeom>
            <a:avLst/>
            <a:gdLst/>
            <a:ahLst/>
            <a:cxnLst/>
            <a:rect l="l" t="t" r="r" b="b"/>
            <a:pathLst>
              <a:path w="13064684" h="7250899">
                <a:moveTo>
                  <a:pt x="0" y="0"/>
                </a:moveTo>
                <a:lnTo>
                  <a:pt x="13064684" y="0"/>
                </a:lnTo>
                <a:lnTo>
                  <a:pt x="13064684" y="7250899"/>
                </a:lnTo>
                <a:lnTo>
                  <a:pt x="0" y="7250899"/>
                </a:lnTo>
                <a:lnTo>
                  <a:pt x="0" y="0"/>
                </a:lnTo>
                <a:close/>
              </a:path>
            </a:pathLst>
          </a:custGeom>
          <a:blipFill>
            <a:blip r:embed="rId1"/>
            <a:stretch>
              <a:fillRect/>
            </a:stretch>
          </a:blipFill>
        </p:spPr>
      </p:sp>
      <p:sp>
        <p:nvSpPr>
          <p:cNvPr id="3" name="TextBox 3"/>
          <p:cNvSpPr txBox="1"/>
          <p:nvPr/>
        </p:nvSpPr>
        <p:spPr>
          <a:xfrm>
            <a:off x="3597931" y="291423"/>
            <a:ext cx="10321528" cy="887095"/>
          </a:xfrm>
          <a:prstGeom prst="rect">
            <a:avLst/>
          </a:prstGeom>
        </p:spPr>
        <p:txBody>
          <a:bodyPr lIns="0" tIns="0" rIns="0" bIns="0" rtlCol="0" anchor="t">
            <a:spAutoFit/>
          </a:bodyPr>
          <a:lstStyle/>
          <a:p>
            <a:pPr algn="ctr">
              <a:lnSpc>
                <a:spcPts val="7280"/>
              </a:lnSpc>
            </a:pPr>
            <a:r>
              <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rPr>
              <a:t>Llama3.1 8B Fine-tunning Graph</a:t>
            </a:r>
            <a:endPar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 name="TextBox 4"/>
          <p:cNvSpPr txBox="1"/>
          <p:nvPr/>
        </p:nvSpPr>
        <p:spPr>
          <a:xfrm>
            <a:off x="16042485" y="811171"/>
            <a:ext cx="956191" cy="263273"/>
          </a:xfrm>
          <a:prstGeom prst="rect">
            <a:avLst/>
          </a:prstGeom>
        </p:spPr>
        <p:txBody>
          <a:bodyPr lIns="0" tIns="0" rIns="0" bIns="0" rtlCol="0" anchor="t">
            <a:spAutoFit/>
          </a:bodyPr>
          <a:lstStyle/>
          <a:p>
            <a:pPr algn="ctr">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11</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437355" y="1740719"/>
            <a:ext cx="13019522" cy="7665244"/>
          </a:xfrm>
          <a:custGeom>
            <a:avLst/>
            <a:gdLst/>
            <a:ahLst/>
            <a:cxnLst/>
            <a:rect l="l" t="t" r="r" b="b"/>
            <a:pathLst>
              <a:path w="13019522" h="7665244">
                <a:moveTo>
                  <a:pt x="0" y="0"/>
                </a:moveTo>
                <a:lnTo>
                  <a:pt x="13019523" y="0"/>
                </a:lnTo>
                <a:lnTo>
                  <a:pt x="13019523" y="7665243"/>
                </a:lnTo>
                <a:lnTo>
                  <a:pt x="0" y="7665243"/>
                </a:lnTo>
                <a:lnTo>
                  <a:pt x="0" y="0"/>
                </a:lnTo>
                <a:close/>
              </a:path>
            </a:pathLst>
          </a:custGeom>
          <a:blipFill>
            <a:blip r:embed="rId1"/>
            <a:stretch>
              <a:fillRect/>
            </a:stretch>
          </a:blipFill>
        </p:spPr>
      </p:sp>
      <p:sp>
        <p:nvSpPr>
          <p:cNvPr id="3" name="TextBox 3"/>
          <p:cNvSpPr txBox="1"/>
          <p:nvPr/>
        </p:nvSpPr>
        <p:spPr>
          <a:xfrm>
            <a:off x="3503098" y="291423"/>
            <a:ext cx="10511194" cy="887095"/>
          </a:xfrm>
          <a:prstGeom prst="rect">
            <a:avLst/>
          </a:prstGeom>
        </p:spPr>
        <p:txBody>
          <a:bodyPr lIns="0" tIns="0" rIns="0" bIns="0" rtlCol="0" anchor="t">
            <a:spAutoFit/>
          </a:bodyPr>
          <a:lstStyle/>
          <a:p>
            <a:pPr algn="ctr">
              <a:lnSpc>
                <a:spcPts val="7280"/>
              </a:lnSpc>
            </a:pPr>
            <a:r>
              <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rPr>
              <a:t>GPT 3.5-turbo Fine-tuning Graph</a:t>
            </a:r>
            <a:endPar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 name="TextBox 4"/>
          <p:cNvSpPr txBox="1"/>
          <p:nvPr/>
        </p:nvSpPr>
        <p:spPr>
          <a:xfrm>
            <a:off x="16527408" y="765427"/>
            <a:ext cx="1006316" cy="263273"/>
          </a:xfrm>
          <a:prstGeom prst="rect">
            <a:avLst/>
          </a:prstGeom>
        </p:spPr>
        <p:txBody>
          <a:bodyPr lIns="0" tIns="0" rIns="0" bIns="0" rtlCol="0" anchor="t">
            <a:spAutoFit/>
          </a:bodyPr>
          <a:lstStyle/>
          <a:p>
            <a:pPr algn="ctr">
              <a:lnSpc>
                <a:spcPts val="2065"/>
              </a:lnSpc>
              <a:spcBef>
                <a:spcPct val="0"/>
              </a:spcBef>
            </a:pPr>
            <a:r>
              <a:rPr lang="en-US" sz="1950">
                <a:solidFill>
                  <a:srgbClr val="FDFDFD"/>
                </a:solidFill>
                <a:latin typeface="TT Lakes Neue" panose="02010001040000080307"/>
                <a:ea typeface="TT Lakes Neue" panose="02010001040000080307"/>
                <a:cs typeface="TT Lakes Neue" panose="02010001040000080307"/>
                <a:sym typeface="TT Lakes Neue" panose="02010001040000080307"/>
              </a:rPr>
              <a:t>PAGE 12</a:t>
            </a:r>
            <a:endParaRPr lang="en-US" sz="1950">
              <a:solidFill>
                <a:srgbClr val="FDFDFD"/>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2285413" y="1699721"/>
            <a:ext cx="12946564" cy="8318167"/>
          </a:xfrm>
          <a:custGeom>
            <a:avLst/>
            <a:gdLst/>
            <a:ahLst/>
            <a:cxnLst/>
            <a:rect l="l" t="t" r="r" b="b"/>
            <a:pathLst>
              <a:path w="12946564" h="8318167">
                <a:moveTo>
                  <a:pt x="0" y="0"/>
                </a:moveTo>
                <a:lnTo>
                  <a:pt x="12946564" y="0"/>
                </a:lnTo>
                <a:lnTo>
                  <a:pt x="12946564" y="8318167"/>
                </a:lnTo>
                <a:lnTo>
                  <a:pt x="0" y="8318167"/>
                </a:lnTo>
                <a:lnTo>
                  <a:pt x="0" y="0"/>
                </a:lnTo>
                <a:close/>
              </a:path>
            </a:pathLst>
          </a:custGeom>
          <a:blipFill>
            <a:blip r:embed="rId1"/>
            <a:stretch>
              <a:fillRect/>
            </a:stretch>
          </a:blipFill>
        </p:spPr>
      </p:sp>
      <p:sp>
        <p:nvSpPr>
          <p:cNvPr id="3" name="TextBox 3"/>
          <p:cNvSpPr txBox="1"/>
          <p:nvPr/>
        </p:nvSpPr>
        <p:spPr>
          <a:xfrm>
            <a:off x="3503098" y="291423"/>
            <a:ext cx="10511194" cy="887095"/>
          </a:xfrm>
          <a:prstGeom prst="rect">
            <a:avLst/>
          </a:prstGeom>
        </p:spPr>
        <p:txBody>
          <a:bodyPr lIns="0" tIns="0" rIns="0" bIns="0" rtlCol="0" anchor="t">
            <a:spAutoFit/>
          </a:bodyPr>
          <a:lstStyle/>
          <a:p>
            <a:pPr algn="ctr">
              <a:lnSpc>
                <a:spcPts val="7280"/>
              </a:lnSpc>
            </a:pPr>
            <a:r>
              <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rPr>
              <a:t>GPT 3.5-turbo Fine-tuning Graph</a:t>
            </a:r>
            <a:endParaRPr lang="en-US" sz="5200" b="1">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4" name="TextBox 4"/>
          <p:cNvSpPr txBox="1"/>
          <p:nvPr/>
        </p:nvSpPr>
        <p:spPr>
          <a:xfrm>
            <a:off x="16385091" y="765427"/>
            <a:ext cx="999530" cy="263273"/>
          </a:xfrm>
          <a:prstGeom prst="rect">
            <a:avLst/>
          </a:prstGeom>
        </p:spPr>
        <p:txBody>
          <a:bodyPr lIns="0" tIns="0" rIns="0" bIns="0" rtlCol="0" anchor="t">
            <a:spAutoFit/>
          </a:bodyPr>
          <a:lstStyle/>
          <a:p>
            <a:pPr algn="ctr">
              <a:lnSpc>
                <a:spcPts val="2065"/>
              </a:lnSpc>
              <a:spcBef>
                <a:spcPct val="0"/>
              </a:spcBef>
            </a:pPr>
            <a:r>
              <a:rPr lang="en-US" sz="1950">
                <a:solidFill>
                  <a:srgbClr val="FEFEFE"/>
                </a:solidFill>
                <a:latin typeface="TT Lakes Neue" panose="02010001040000080307"/>
                <a:ea typeface="TT Lakes Neue" panose="02010001040000080307"/>
                <a:cs typeface="TT Lakes Neue" panose="02010001040000080307"/>
                <a:sym typeface="TT Lakes Neue" panose="02010001040000080307"/>
              </a:rPr>
              <a:t>PAGE 13</a:t>
            </a:r>
            <a:endParaRPr lang="en-US" sz="1950">
              <a:solidFill>
                <a:srgbClr val="FEFEFE"/>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711939" y="1306549"/>
            <a:ext cx="742265" cy="742265"/>
          </a:xfrm>
          <a:custGeom>
            <a:avLst/>
            <a:gdLst/>
            <a:ahLst/>
            <a:cxnLst/>
            <a:rect l="l" t="t" r="r" b="b"/>
            <a:pathLst>
              <a:path w="742265" h="742265">
                <a:moveTo>
                  <a:pt x="0" y="0"/>
                </a:moveTo>
                <a:lnTo>
                  <a:pt x="742264" y="0"/>
                </a:lnTo>
                <a:lnTo>
                  <a:pt x="742264" y="742265"/>
                </a:lnTo>
                <a:lnTo>
                  <a:pt x="0" y="74226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711939" y="3790517"/>
            <a:ext cx="7707780" cy="1167826"/>
          </a:xfrm>
          <a:prstGeom prst="rect">
            <a:avLst/>
          </a:prstGeom>
        </p:spPr>
        <p:txBody>
          <a:bodyPr lIns="0" tIns="0" rIns="0" bIns="0" rtlCol="0" anchor="t">
            <a:spAutoFit/>
          </a:bodyPr>
          <a:lstStyle/>
          <a:p>
            <a:pPr algn="l">
              <a:lnSpc>
                <a:spcPts val="8935"/>
              </a:lnSpc>
              <a:spcBef>
                <a:spcPct val="0"/>
              </a:spcBef>
            </a:pPr>
            <a:r>
              <a:rPr lang="en-US" sz="8430" b="1">
                <a:solidFill>
                  <a:srgbClr val="FFFFFF"/>
                </a:solidFill>
                <a:latin typeface="TT Lakes Neue Bold" panose="02010001040000080307"/>
                <a:ea typeface="TT Lakes Neue Bold" panose="02010001040000080307"/>
                <a:cs typeface="TT Lakes Neue Bold" panose="02010001040000080307"/>
                <a:sym typeface="TT Lakes Neue Bold" panose="02010001040000080307"/>
              </a:rPr>
              <a:t>PROSPECTS</a:t>
            </a:r>
            <a:endParaRPr lang="en-US" sz="8430" b="1">
              <a:solidFill>
                <a:srgbClr val="FFFFFF"/>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4" name="TextBox 4"/>
          <p:cNvSpPr txBox="1"/>
          <p:nvPr/>
        </p:nvSpPr>
        <p:spPr>
          <a:xfrm>
            <a:off x="1711939" y="2809686"/>
            <a:ext cx="6798762" cy="1167826"/>
          </a:xfrm>
          <a:prstGeom prst="rect">
            <a:avLst/>
          </a:prstGeom>
        </p:spPr>
        <p:txBody>
          <a:bodyPr lIns="0" tIns="0" rIns="0" bIns="0" rtlCol="0" anchor="t">
            <a:spAutoFit/>
          </a:bodyPr>
          <a:lstStyle/>
          <a:p>
            <a:pPr algn="l">
              <a:lnSpc>
                <a:spcPts val="8935"/>
              </a:lnSpc>
              <a:spcBef>
                <a:spcPct val="0"/>
              </a:spcBef>
            </a:pPr>
            <a:r>
              <a:rPr lang="en-US" sz="8430"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FUTURE </a:t>
            </a:r>
            <a:endParaRPr lang="en-US" sz="8430"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5" name="Freeform 5"/>
          <p:cNvSpPr/>
          <p:nvPr/>
        </p:nvSpPr>
        <p:spPr>
          <a:xfrm>
            <a:off x="15990108" y="7290349"/>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r:embed="rId3">
              <a:alphaModFix amt="27000"/>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711939" y="5112630"/>
            <a:ext cx="8357710" cy="3634105"/>
          </a:xfrm>
          <a:prstGeom prst="rect">
            <a:avLst/>
          </a:prstGeom>
        </p:spPr>
        <p:txBody>
          <a:bodyPr lIns="0" tIns="0" rIns="0" bIns="0" rtlCol="0" anchor="t">
            <a:spAutoFit/>
          </a:bodyPr>
          <a:lstStyle/>
          <a:p>
            <a:pPr algn="l">
              <a:lnSpc>
                <a:spcPts val="2180"/>
              </a:lnSpc>
            </a:pPr>
            <a:r>
              <a:rPr lang="en-US" sz="2060" b="1">
                <a:solidFill>
                  <a:srgbClr val="FFFFFF"/>
                </a:solidFill>
                <a:latin typeface="Raleway Semi-Bold"/>
                <a:ea typeface="Raleway Semi-Bold"/>
                <a:cs typeface="Raleway Semi-Bold"/>
                <a:sym typeface="Raleway Semi-Bold"/>
              </a:rPr>
              <a:t>1️⃣ Expansion of LLMs &amp; AI Capabilities</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More AI Models (Claude, Mistral, Future OpenAI Models)</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Custom Model Selection &amp; Switching</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Multimodals.</a:t>
            </a:r>
            <a:endParaRPr lang="en-US" sz="2060" b="1">
              <a:solidFill>
                <a:srgbClr val="FFFFFF"/>
              </a:solidFill>
              <a:latin typeface="Raleway Semi-Bold"/>
              <a:ea typeface="Raleway Semi-Bold"/>
              <a:cs typeface="Raleway Semi-Bold"/>
              <a:sym typeface="Raleway Semi-Bold"/>
            </a:endParaRPr>
          </a:p>
          <a:p>
            <a:pPr algn="l">
              <a:lnSpc>
                <a:spcPts val="2180"/>
              </a:lnSpc>
            </a:pPr>
            <a:r>
              <a:rPr lang="en-US" sz="2060" b="1">
                <a:solidFill>
                  <a:srgbClr val="FFFFFF"/>
                </a:solidFill>
                <a:latin typeface="Raleway Semi-Bold"/>
                <a:ea typeface="Raleway Semi-Bold"/>
                <a:cs typeface="Raleway Semi-Bold"/>
                <a:sym typeface="Raleway Semi-Bold"/>
              </a:rPr>
              <a:t>2️⃣ Advanced File Analysis &amp; Insights</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Support for More File Types (Word, Excel, JSON)</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AI-Powered Summarization &amp; Data Extraction</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Real-Time Data Processing &amp; Visualization</a:t>
            </a:r>
            <a:endParaRPr lang="en-US" sz="2060" b="1">
              <a:solidFill>
                <a:srgbClr val="FFFFFF"/>
              </a:solidFill>
              <a:latin typeface="Raleway Semi-Bold"/>
              <a:ea typeface="Raleway Semi-Bold"/>
              <a:cs typeface="Raleway Semi-Bold"/>
              <a:sym typeface="Raleway Semi-Bold"/>
            </a:endParaRPr>
          </a:p>
          <a:p>
            <a:pPr algn="l">
              <a:lnSpc>
                <a:spcPts val="2180"/>
              </a:lnSpc>
            </a:pPr>
            <a:r>
              <a:rPr lang="en-US" sz="2060" b="1">
                <a:solidFill>
                  <a:srgbClr val="FFFFFF"/>
                </a:solidFill>
                <a:latin typeface="Raleway Semi-Bold"/>
                <a:ea typeface="Raleway Semi-Bold"/>
                <a:cs typeface="Raleway Semi-Bold"/>
                <a:sym typeface="Raleway Semi-Bold"/>
              </a:rPr>
              <a:t>3️⃣ Domain-Specific AI Expansion</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More Fine-Tuned Models (Medicine, Law, Finance)</a:t>
            </a:r>
            <a:endParaRPr lang="en-US" sz="2060" b="1">
              <a:solidFill>
                <a:srgbClr val="FFFFFF"/>
              </a:solidFill>
              <a:latin typeface="Raleway Semi-Bold"/>
              <a:ea typeface="Raleway Semi-Bold"/>
              <a:cs typeface="Raleway Semi-Bold"/>
              <a:sym typeface="Raleway Semi-Bold"/>
            </a:endParaRPr>
          </a:p>
          <a:p>
            <a:pPr marL="444500" lvl="1" indent="-222250" algn="l">
              <a:lnSpc>
                <a:spcPts val="2180"/>
              </a:lnSpc>
              <a:buFont typeface="Arial" panose="020B0604020202020204"/>
              <a:buChar char="•"/>
            </a:pPr>
            <a:r>
              <a:rPr lang="en-US" sz="2060" b="1">
                <a:solidFill>
                  <a:srgbClr val="FFFFFF"/>
                </a:solidFill>
                <a:latin typeface="Raleway Semi-Bold"/>
                <a:ea typeface="Raleway Semi-Bold"/>
                <a:cs typeface="Raleway Semi-Bold"/>
                <a:sym typeface="Raleway Semi-Bold"/>
              </a:rPr>
              <a:t>Integration with Real-Time APIs (University Portals, Sports Data, Finance)</a:t>
            </a:r>
            <a:endParaRPr lang="en-US" sz="2060" b="1">
              <a:solidFill>
                <a:srgbClr val="FFFFFF"/>
              </a:solidFill>
              <a:latin typeface="Raleway Semi-Bold"/>
              <a:ea typeface="Raleway Semi-Bold"/>
              <a:cs typeface="Raleway Semi-Bold"/>
              <a:sym typeface="Raleway Semi-Bold"/>
            </a:endParaRPr>
          </a:p>
          <a:p>
            <a:pPr algn="l">
              <a:lnSpc>
                <a:spcPts val="2180"/>
              </a:lnSpc>
            </a:pPr>
          </a:p>
        </p:txBody>
      </p:sp>
      <p:sp>
        <p:nvSpPr>
          <p:cNvPr id="9" name="Freeform 9"/>
          <p:cNvSpPr/>
          <p:nvPr/>
        </p:nvSpPr>
        <p:spPr>
          <a:xfrm rot="-5400000">
            <a:off x="11729844" y="1178667"/>
            <a:ext cx="3051236" cy="4878430"/>
          </a:xfrm>
          <a:custGeom>
            <a:avLst/>
            <a:gdLst/>
            <a:ahLst/>
            <a:cxnLst/>
            <a:rect l="l" t="t" r="r" b="b"/>
            <a:pathLst>
              <a:path w="3051236" h="4878430">
                <a:moveTo>
                  <a:pt x="0" y="0"/>
                </a:moveTo>
                <a:lnTo>
                  <a:pt x="3051237" y="0"/>
                </a:lnTo>
                <a:lnTo>
                  <a:pt x="3051237" y="4878430"/>
                </a:lnTo>
                <a:lnTo>
                  <a:pt x="0" y="48784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0" name="Group 10"/>
          <p:cNvGrpSpPr/>
          <p:nvPr/>
        </p:nvGrpSpPr>
        <p:grpSpPr>
          <a:xfrm rot="0">
            <a:off x="11325015" y="2281387"/>
            <a:ext cx="3860896" cy="2542532"/>
            <a:chOff x="0" y="0"/>
            <a:chExt cx="812800" cy="535257"/>
          </a:xfrm>
        </p:grpSpPr>
        <p:sp>
          <p:nvSpPr>
            <p:cNvPr id="11" name="Freeform 11"/>
            <p:cNvSpPr/>
            <p:nvPr/>
          </p:nvSpPr>
          <p:spPr>
            <a:xfrm>
              <a:off x="0" y="0"/>
              <a:ext cx="812800" cy="535257"/>
            </a:xfrm>
            <a:custGeom>
              <a:avLst/>
              <a:gdLst/>
              <a:ahLst/>
              <a:cxnLst/>
              <a:rect l="l" t="t" r="r" b="b"/>
              <a:pathLst>
                <a:path w="812800" h="535257">
                  <a:moveTo>
                    <a:pt x="0" y="0"/>
                  </a:moveTo>
                  <a:lnTo>
                    <a:pt x="812800" y="0"/>
                  </a:lnTo>
                  <a:lnTo>
                    <a:pt x="812800" y="535257"/>
                  </a:lnTo>
                  <a:lnTo>
                    <a:pt x="0" y="535257"/>
                  </a:lnTo>
                  <a:close/>
                </a:path>
              </a:pathLst>
            </a:custGeom>
            <a:blipFill>
              <a:blip r:embed="rId7"/>
              <a:stretch>
                <a:fillRect t="-680" b="-680"/>
              </a:stretch>
            </a:blipFill>
          </p:spPr>
        </p:sp>
      </p:grpSp>
      <p:sp>
        <p:nvSpPr>
          <p:cNvPr id="12" name="Freeform 12"/>
          <p:cNvSpPr/>
          <p:nvPr/>
        </p:nvSpPr>
        <p:spPr>
          <a:xfrm rot="-5400000">
            <a:off x="11729844" y="4427251"/>
            <a:ext cx="3051236" cy="4878430"/>
          </a:xfrm>
          <a:custGeom>
            <a:avLst/>
            <a:gdLst/>
            <a:ahLst/>
            <a:cxnLst/>
            <a:rect l="l" t="t" r="r" b="b"/>
            <a:pathLst>
              <a:path w="3051236" h="4878430">
                <a:moveTo>
                  <a:pt x="0" y="0"/>
                </a:moveTo>
                <a:lnTo>
                  <a:pt x="3051237" y="0"/>
                </a:lnTo>
                <a:lnTo>
                  <a:pt x="3051237" y="4878430"/>
                </a:lnTo>
                <a:lnTo>
                  <a:pt x="0" y="48784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13" name="Group 13"/>
          <p:cNvGrpSpPr/>
          <p:nvPr/>
        </p:nvGrpSpPr>
        <p:grpSpPr>
          <a:xfrm rot="0">
            <a:off x="11325015" y="5529971"/>
            <a:ext cx="3860896" cy="2542532"/>
            <a:chOff x="0" y="0"/>
            <a:chExt cx="812800" cy="535257"/>
          </a:xfrm>
        </p:grpSpPr>
        <p:sp>
          <p:nvSpPr>
            <p:cNvPr id="14" name="Freeform 14"/>
            <p:cNvSpPr/>
            <p:nvPr/>
          </p:nvSpPr>
          <p:spPr>
            <a:xfrm>
              <a:off x="0" y="0"/>
              <a:ext cx="812800" cy="535257"/>
            </a:xfrm>
            <a:custGeom>
              <a:avLst/>
              <a:gdLst/>
              <a:ahLst/>
              <a:cxnLst/>
              <a:rect l="l" t="t" r="r" b="b"/>
              <a:pathLst>
                <a:path w="812800" h="535257">
                  <a:moveTo>
                    <a:pt x="0" y="0"/>
                  </a:moveTo>
                  <a:lnTo>
                    <a:pt x="812800" y="0"/>
                  </a:lnTo>
                  <a:lnTo>
                    <a:pt x="812800" y="535257"/>
                  </a:lnTo>
                  <a:lnTo>
                    <a:pt x="0" y="535257"/>
                  </a:lnTo>
                  <a:close/>
                </a:path>
              </a:pathLst>
            </a:custGeom>
            <a:blipFill>
              <a:blip r:embed="rId8"/>
              <a:stretch>
                <a:fillRect t="-680" b="-680"/>
              </a:stretch>
            </a:blipFill>
          </p:spPr>
        </p:sp>
      </p:grpSp>
      <p:sp>
        <p:nvSpPr>
          <p:cNvPr id="15" name="TextBox 15"/>
          <p:cNvSpPr txBox="1"/>
          <p:nvPr/>
        </p:nvSpPr>
        <p:spPr>
          <a:xfrm>
            <a:off x="16388417" y="520133"/>
            <a:ext cx="993338" cy="263273"/>
          </a:xfrm>
          <a:prstGeom prst="rect">
            <a:avLst/>
          </a:prstGeom>
        </p:spPr>
        <p:txBody>
          <a:bodyPr lIns="0" tIns="0" rIns="0" bIns="0" rtlCol="0" anchor="t">
            <a:spAutoFit/>
          </a:bodyPr>
          <a:lstStyle/>
          <a:p>
            <a:pPr algn="ctr">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14</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12043098" y="2407467"/>
            <a:ext cx="4273348" cy="4195650"/>
          </a:xfrm>
          <a:custGeom>
            <a:avLst/>
            <a:gdLst/>
            <a:ahLst/>
            <a:cxnLst/>
            <a:rect l="l" t="t" r="r" b="b"/>
            <a:pathLst>
              <a:path w="4273348" h="4195650">
                <a:moveTo>
                  <a:pt x="0" y="0"/>
                </a:moveTo>
                <a:lnTo>
                  <a:pt x="4273348" y="0"/>
                </a:lnTo>
                <a:lnTo>
                  <a:pt x="4273348" y="4195650"/>
                </a:lnTo>
                <a:lnTo>
                  <a:pt x="0" y="4195650"/>
                </a:lnTo>
                <a:lnTo>
                  <a:pt x="0" y="0"/>
                </a:lnTo>
                <a:close/>
              </a:path>
            </a:pathLst>
          </a:custGeom>
          <a:blipFill>
            <a:blip r:embed="rId1">
              <a:alphaModFix amt="68000"/>
              <a:extLst>
                <a:ext uri="{96DAC541-7B7A-43D3-8B79-37D633B846F1}">
                  <asvg:svgBlip xmlns:asvg="http://schemas.microsoft.com/office/drawing/2016/SVG/main" r:embed="rId2"/>
                </a:ext>
              </a:extLst>
            </a:blip>
            <a:stretch>
              <a:fillRect/>
            </a:stretch>
          </a:blipFill>
        </p:spPr>
      </p:sp>
      <p:grpSp>
        <p:nvGrpSpPr>
          <p:cNvPr id="3" name="Group 3"/>
          <p:cNvGrpSpPr>
            <a:grpSpLocks noChangeAspect="1"/>
          </p:cNvGrpSpPr>
          <p:nvPr/>
        </p:nvGrpSpPr>
        <p:grpSpPr>
          <a:xfrm rot="0">
            <a:off x="12963611" y="3336449"/>
            <a:ext cx="2473898" cy="2473898"/>
            <a:chOff x="0" y="0"/>
            <a:chExt cx="14840029" cy="14840029"/>
          </a:xfrm>
        </p:grpSpPr>
        <p:sp>
          <p:nvSpPr>
            <p:cNvPr id="4" name="Freeform 4"/>
            <p:cNvSpPr/>
            <p:nvPr/>
          </p:nvSpPr>
          <p:spPr>
            <a:xfrm>
              <a:off x="-366471" y="-11891"/>
              <a:ext cx="15572971" cy="14863810"/>
            </a:xfrm>
            <a:custGeom>
              <a:avLst/>
              <a:gdLst/>
              <a:ahLst/>
              <a:cxnLst/>
              <a:rect l="l" t="t" r="r" b="b"/>
              <a:pathLst>
                <a:path w="15572971" h="14863810">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solidFill>
              <a:srgbClr val="00BBDE"/>
            </a:solidFill>
          </p:spPr>
        </p:sp>
        <p:sp>
          <p:nvSpPr>
            <p:cNvPr id="5" name="Freeform 5"/>
            <p:cNvSpPr/>
            <p:nvPr/>
          </p:nvSpPr>
          <p:spPr>
            <a:xfrm>
              <a:off x="-156193" y="188812"/>
              <a:ext cx="15152415" cy="14462405"/>
            </a:xfrm>
            <a:custGeom>
              <a:avLst/>
              <a:gdLst/>
              <a:ahLst/>
              <a:cxnLst/>
              <a:rect l="l" t="t" r="r" b="b"/>
              <a:pathLst>
                <a:path w="15152415" h="1446240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id="6" name="Freeform 6"/>
            <p:cNvSpPr/>
            <p:nvPr/>
          </p:nvSpPr>
          <p:spPr>
            <a:xfrm>
              <a:off x="223301" y="551024"/>
              <a:ext cx="14393427" cy="13737979"/>
            </a:xfrm>
            <a:custGeom>
              <a:avLst/>
              <a:gdLst/>
              <a:ahLst/>
              <a:cxnLst/>
              <a:rect l="l" t="t" r="r" b="b"/>
              <a:pathLst>
                <a:path w="14393427" h="13737979">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3"/>
              <a:stretch>
                <a:fillRect l="-32961" r="-32961"/>
              </a:stretch>
            </a:blipFill>
          </p:spPr>
        </p:sp>
      </p:grpSp>
      <p:sp>
        <p:nvSpPr>
          <p:cNvPr id="7" name="TextBox 7"/>
          <p:cNvSpPr txBox="1"/>
          <p:nvPr/>
        </p:nvSpPr>
        <p:spPr>
          <a:xfrm>
            <a:off x="1028700" y="747016"/>
            <a:ext cx="6487251" cy="1947055"/>
          </a:xfrm>
          <a:prstGeom prst="rect">
            <a:avLst/>
          </a:prstGeom>
        </p:spPr>
        <p:txBody>
          <a:bodyPr lIns="0" tIns="0" rIns="0" bIns="0" rtlCol="0" anchor="t">
            <a:spAutoFit/>
          </a:bodyPr>
          <a:lstStyle/>
          <a:p>
            <a:pPr algn="l">
              <a:lnSpc>
                <a:spcPts val="7525"/>
              </a:lnSpc>
              <a:spcBef>
                <a:spcPct val="0"/>
              </a:spcBef>
            </a:pPr>
            <a:r>
              <a:rPr lang="en-US" sz="709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FUTURE OF LLMS</a:t>
            </a:r>
            <a:endParaRPr lang="en-US" sz="709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8" name="TextBox 8"/>
          <p:cNvSpPr txBox="1"/>
          <p:nvPr/>
        </p:nvSpPr>
        <p:spPr>
          <a:xfrm>
            <a:off x="1028700" y="3405137"/>
            <a:ext cx="9791933" cy="4857080"/>
          </a:xfrm>
          <a:prstGeom prst="rect">
            <a:avLst/>
          </a:prstGeom>
        </p:spPr>
        <p:txBody>
          <a:bodyPr lIns="0" tIns="0" rIns="0" bIns="0" rtlCol="0" anchor="t">
            <a:spAutoFit/>
          </a:bodyPr>
          <a:lstStyle/>
          <a:p>
            <a:pPr marL="597535" lvl="1" indent="-298450" algn="l">
              <a:lnSpc>
                <a:spcPts val="2930"/>
              </a:lnSpc>
              <a:buFont typeface="Arial" panose="020B0604020202020204"/>
              <a:buChar char="•"/>
            </a:pPr>
            <a:r>
              <a:rPr lang="en-US" sz="2765" b="1">
                <a:solidFill>
                  <a:srgbClr val="FFFFFF"/>
                </a:solidFill>
                <a:latin typeface="Raleway Semi-Bold"/>
                <a:ea typeface="Raleway Semi-Bold"/>
                <a:cs typeface="Raleway Semi-Bold"/>
                <a:sym typeface="Raleway Semi-Bold"/>
              </a:rPr>
              <a:t>Automation &amp; AI Agents 🤖 – LLMs will power autonomous agents that automate workflows, assist in decision-making, and handle complex tasks with minimal human intervention.</a:t>
            </a:r>
            <a:endParaRPr lang="en-US" sz="2765" b="1">
              <a:solidFill>
                <a:srgbClr val="FFFFFF"/>
              </a:solidFill>
              <a:latin typeface="Raleway Semi-Bold"/>
              <a:ea typeface="Raleway Semi-Bold"/>
              <a:cs typeface="Raleway Semi-Bold"/>
              <a:sym typeface="Raleway Semi-Bold"/>
            </a:endParaRPr>
          </a:p>
          <a:p>
            <a:pPr marL="597535" lvl="1" indent="-298450" algn="l">
              <a:lnSpc>
                <a:spcPts val="2930"/>
              </a:lnSpc>
              <a:buFont typeface="Arial" panose="020B0604020202020204"/>
              <a:buChar char="•"/>
            </a:pPr>
            <a:r>
              <a:rPr lang="en-US" sz="2765" b="1">
                <a:solidFill>
                  <a:srgbClr val="FFFFFF"/>
                </a:solidFill>
                <a:latin typeface="Raleway Semi-Bold"/>
                <a:ea typeface="Raleway Semi-Bold"/>
                <a:cs typeface="Raleway Semi-Bold"/>
                <a:sym typeface="Raleway Semi-Bold"/>
              </a:rPr>
              <a:t>Multimodal &amp; Personalized AI 🎨🔊 – Future LLMs will integrate text, images, audio, and video, providing more interactive experiences while adapting to individual user needs.</a:t>
            </a:r>
            <a:endParaRPr lang="en-US" sz="2765" b="1">
              <a:solidFill>
                <a:srgbClr val="FFFFFF"/>
              </a:solidFill>
              <a:latin typeface="Raleway Semi-Bold"/>
              <a:ea typeface="Raleway Semi-Bold"/>
              <a:cs typeface="Raleway Semi-Bold"/>
              <a:sym typeface="Raleway Semi-Bold"/>
            </a:endParaRPr>
          </a:p>
          <a:p>
            <a:pPr marL="597535" lvl="1" indent="-298450" algn="l">
              <a:lnSpc>
                <a:spcPts val="2930"/>
              </a:lnSpc>
              <a:buFont typeface="Arial" panose="020B0604020202020204"/>
              <a:buChar char="•"/>
            </a:pPr>
            <a:r>
              <a:rPr lang="en-US" sz="2765" b="1">
                <a:solidFill>
                  <a:srgbClr val="FFFFFF"/>
                </a:solidFill>
                <a:latin typeface="Raleway Semi-Bold"/>
                <a:ea typeface="Raleway Semi-Bold"/>
                <a:cs typeface="Raleway Semi-Bold"/>
                <a:sym typeface="Raleway Semi-Bold"/>
              </a:rPr>
              <a:t>Scalability &amp; Ethical AI ⚖️ – Advances in AI hardware will make LLMs more cost-efficient, while stricter regulations will ensure fairness, transparency, and responsible AI usage.</a:t>
            </a:r>
            <a:endParaRPr lang="en-US" sz="2765" b="1">
              <a:solidFill>
                <a:srgbClr val="FFFFFF"/>
              </a:solidFill>
              <a:latin typeface="Raleway Semi-Bold"/>
              <a:ea typeface="Raleway Semi-Bold"/>
              <a:cs typeface="Raleway Semi-Bold"/>
              <a:sym typeface="Raleway Semi-Bold"/>
            </a:endParaRPr>
          </a:p>
          <a:p>
            <a:pPr algn="l">
              <a:lnSpc>
                <a:spcPts val="2930"/>
              </a:lnSpc>
              <a:spcBef>
                <a:spcPct val="0"/>
              </a:spcBef>
            </a:pPr>
          </a:p>
        </p:txBody>
      </p:sp>
      <p:sp>
        <p:nvSpPr>
          <p:cNvPr id="9" name="Freeform 9"/>
          <p:cNvSpPr/>
          <p:nvPr/>
        </p:nvSpPr>
        <p:spPr>
          <a:xfrm>
            <a:off x="15990108" y="7290349"/>
            <a:ext cx="1789958" cy="1757413"/>
          </a:xfrm>
          <a:custGeom>
            <a:avLst/>
            <a:gdLst/>
            <a:ahLst/>
            <a:cxnLst/>
            <a:rect l="l" t="t" r="r" b="b"/>
            <a:pathLst>
              <a:path w="1789958" h="1757413">
                <a:moveTo>
                  <a:pt x="0" y="0"/>
                </a:moveTo>
                <a:lnTo>
                  <a:pt x="1789957" y="0"/>
                </a:lnTo>
                <a:lnTo>
                  <a:pt x="1789957" y="1757413"/>
                </a:lnTo>
                <a:lnTo>
                  <a:pt x="0" y="1757413"/>
                </a:lnTo>
                <a:lnTo>
                  <a:pt x="0" y="0"/>
                </a:lnTo>
                <a:close/>
              </a:path>
            </a:pathLst>
          </a:custGeom>
          <a:blipFill>
            <a:blip r:embed="rId1">
              <a:alphaModFix amt="27000"/>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16350497" y="911351"/>
            <a:ext cx="1006316" cy="263273"/>
          </a:xfrm>
          <a:prstGeom prst="rect">
            <a:avLst/>
          </a:prstGeom>
        </p:spPr>
        <p:txBody>
          <a:bodyPr lIns="0" tIns="0" rIns="0" bIns="0" rtlCol="0" anchor="t">
            <a:spAutoFit/>
          </a:bodyPr>
          <a:lstStyle/>
          <a:p>
            <a:pPr algn="ctr">
              <a:lnSpc>
                <a:spcPts val="2065"/>
              </a:lnSpc>
              <a:spcBef>
                <a:spcPct val="0"/>
              </a:spcBef>
            </a:pPr>
            <a:r>
              <a:rPr lang="en-US" sz="1950">
                <a:solidFill>
                  <a:srgbClr val="FFFFFF"/>
                </a:solidFill>
                <a:latin typeface="TT Lakes Neue" panose="02010001040000080307"/>
                <a:ea typeface="TT Lakes Neue" panose="02010001040000080307"/>
                <a:cs typeface="TT Lakes Neue" panose="02010001040000080307"/>
                <a:sym typeface="TT Lakes Neue" panose="02010001040000080307"/>
              </a:rPr>
              <a:t>PAGE 15</a:t>
            </a:r>
            <a:endParaRPr lang="en-US" sz="1950">
              <a:solidFill>
                <a:srgbClr val="FFFFFF"/>
              </a:solidFill>
              <a:latin typeface="TT Lakes Neue" panose="02010001040000080307"/>
              <a:ea typeface="TT Lakes Neue" panose="02010001040000080307"/>
              <a:cs typeface="TT Lakes Neue" panose="02010001040000080307"/>
              <a:sym typeface="TT Lakes Neue" panose="0201000104000008030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F40">
                <a:alpha val="100000"/>
              </a:srgbClr>
            </a:gs>
            <a:gs pos="100000">
              <a:srgbClr val="3D6D81">
                <a:alpha val="100000"/>
              </a:srgbClr>
            </a:gs>
          </a:gsLst>
          <a:lin ang="5400000"/>
        </a:gradFill>
        <a:effectLst/>
      </p:bgPr>
    </p:bg>
    <p:spTree>
      <p:nvGrpSpPr>
        <p:cNvPr id="1" name=""/>
        <p:cNvGrpSpPr/>
        <p:nvPr/>
      </p:nvGrpSpPr>
      <p:grpSpPr>
        <a:xfrm>
          <a:off x="0" y="0"/>
          <a:ext cx="0" cy="0"/>
          <a:chOff x="0" y="0"/>
          <a:chExt cx="0" cy="0"/>
        </a:xfrm>
      </p:grpSpPr>
      <p:sp>
        <p:nvSpPr>
          <p:cNvPr id="2" name="TextBox 2"/>
          <p:cNvSpPr txBox="1"/>
          <p:nvPr/>
        </p:nvSpPr>
        <p:spPr>
          <a:xfrm>
            <a:off x="6595089" y="4598153"/>
            <a:ext cx="5097823" cy="1636709"/>
          </a:xfrm>
          <a:prstGeom prst="rect">
            <a:avLst/>
          </a:prstGeom>
        </p:spPr>
        <p:txBody>
          <a:bodyPr lIns="0" tIns="0" rIns="0" bIns="0" rtlCol="0" anchor="t">
            <a:spAutoFit/>
          </a:bodyPr>
          <a:lstStyle/>
          <a:p>
            <a:pPr algn="ctr">
              <a:lnSpc>
                <a:spcPts val="12525"/>
              </a:lnSpc>
              <a:spcBef>
                <a:spcPct val="0"/>
              </a:spcBef>
            </a:pPr>
            <a:r>
              <a:rPr lang="en-US" sz="11815" b="1">
                <a:solidFill>
                  <a:srgbClr val="FFFFFF"/>
                </a:solidFill>
                <a:latin typeface="TT Lakes Neue Bold" panose="02010001040000080307"/>
                <a:ea typeface="TT Lakes Neue Bold" panose="02010001040000080307"/>
                <a:cs typeface="TT Lakes Neue Bold" panose="02010001040000080307"/>
                <a:sym typeface="TT Lakes Neue Bold" panose="02010001040000080307"/>
              </a:rPr>
              <a:t>YOU!</a:t>
            </a:r>
            <a:endParaRPr lang="en-US" sz="11815" b="1">
              <a:solidFill>
                <a:srgbClr val="FFFFFF"/>
              </a:solidFill>
              <a:latin typeface="TT Lakes Neue Bold" panose="02010001040000080307"/>
              <a:ea typeface="TT Lakes Neue Bold" panose="02010001040000080307"/>
              <a:cs typeface="TT Lakes Neue Bold" panose="02010001040000080307"/>
              <a:sym typeface="TT Lakes Neue Bold" panose="02010001040000080307"/>
            </a:endParaRPr>
          </a:p>
        </p:txBody>
      </p:sp>
      <p:sp>
        <p:nvSpPr>
          <p:cNvPr id="3" name="TextBox 3"/>
          <p:cNvSpPr txBox="1"/>
          <p:nvPr/>
        </p:nvSpPr>
        <p:spPr>
          <a:xfrm>
            <a:off x="6245623" y="3359600"/>
            <a:ext cx="5796755" cy="1636709"/>
          </a:xfrm>
          <a:prstGeom prst="rect">
            <a:avLst/>
          </a:prstGeom>
        </p:spPr>
        <p:txBody>
          <a:bodyPr lIns="0" tIns="0" rIns="0" bIns="0" rtlCol="0" anchor="t">
            <a:spAutoFit/>
          </a:bodyPr>
          <a:lstStyle/>
          <a:p>
            <a:pPr algn="ctr">
              <a:lnSpc>
                <a:spcPts val="12525"/>
              </a:lnSpc>
              <a:spcBef>
                <a:spcPct val="0"/>
              </a:spcBef>
            </a:pPr>
            <a:r>
              <a:rPr lang="en-US" sz="1181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rPr>
              <a:t>THANK</a:t>
            </a:r>
            <a:endParaRPr lang="en-US" sz="11815" b="1">
              <a:solidFill>
                <a:srgbClr val="84E3F8"/>
              </a:solidFill>
              <a:latin typeface="TT Lakes Neue Bold" panose="02010001040000080307"/>
              <a:ea typeface="TT Lakes Neue Bold" panose="02010001040000080307"/>
              <a:cs typeface="TT Lakes Neue Bold" panose="02010001040000080307"/>
              <a:sym typeface="TT Lakes Neue Bold" panose="0201000104000008030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5577</Words>
  <Application>WPS Presentation</Application>
  <PresentationFormat>On-screen Show (4:3)</PresentationFormat>
  <Paragraphs>187</Paragraphs>
  <Slides>17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17</vt:i4>
      </vt:variant>
    </vt:vector>
  </HeadingPairs>
  <TitlesOfParts>
    <vt:vector size="32" baseType="lpstr">
      <vt:lpstr>Arial</vt:lpstr>
      <vt:lpstr>SimSun</vt:lpstr>
      <vt:lpstr>Wingdings</vt:lpstr>
      <vt:lpstr>TT Lakes Neue Bold</vt:lpstr>
      <vt:lpstr>TT Lakes Neue</vt:lpstr>
      <vt:lpstr>Raleway</vt:lpstr>
      <vt:lpstr>Canva Sans Bold</vt:lpstr>
      <vt:lpstr>Canva Sans</vt:lpstr>
      <vt:lpstr>Raleway Semi-Bold</vt:lpstr>
      <vt:lpstr>Raleway Bold</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AI Technology Presentation</dc:title>
  <dc:creator/>
  <cp:lastModifiedBy>AR 17</cp:lastModifiedBy>
  <cp:revision>5</cp:revision>
  <dcterms:created xsi:type="dcterms:W3CDTF">2006-08-16T00:00:00Z</dcterms:created>
  <dcterms:modified xsi:type="dcterms:W3CDTF">2025-02-03T19:31:26Z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15CE7FC5B7BB441393D4694159D3FB03_12</vt:lpwstr>
  </property>
  <property fmtid="{D5CDD505-2E9C-101B-9397-08002B2CF9AE}" pid="3" name="KSOProductBuildVer">
    <vt:lpwstr>1033-12.2.0.19805</vt:lpwstr>
  </property>
</Properties>
</file>